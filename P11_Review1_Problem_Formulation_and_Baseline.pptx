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7284e21-91ed-3d9c-e6ef-8ca67ff5524b}">
          <p14:sldIdLst>
            <p14:sldId id="256"/>
            <p14:sldId id="257"/>
          </p14:sldIdLst>
        </p14:section>
        <p14:section name="Problem" id="{544fb17d-d57a-e491-6e0c-951224192982}">
          <p14:sldIdLst>
            <p14:sldId id="258"/>
            <p14:sldId id="259"/>
            <p14:sldId id="260"/>
          </p14:sldIdLst>
        </p14:section>
        <p14:section name="Literature" id="{8309211a-04eb-b04a-cc30-d15b53caedaa}">
          <p14:sldIdLst>
            <p14:sldId id="261"/>
            <p14:sldId id="262"/>
            <p14:sldId id="263"/>
          </p14:sldIdLst>
        </p14:section>
        <p14:section name="Testbed" id="{0cdbe5bc-c780-2a1b-a4c0-52ed885dbf8b}">
          <p14:sldIdLst>
            <p14:sldId id="264"/>
            <p14:sldId id="265"/>
          </p14:sldIdLst>
        </p14:section>
        <p14:section name="Baseline" id="{aa6479c7-1d1a-c15c-d04e-34f2aec6647d}">
          <p14:sldIdLst>
            <p14:sldId id="266"/>
            <p14:sldId id="267"/>
          </p14:sldIdLst>
        </p14:section>
        <p14:section name="Plan" id="{fe0036c4-b0fb-1b9d-706c-550dec6e47c5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Conceptual daily demand vs fixed private capacity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(pods)</c:v>
                </c:pt>
              </c:strCache>
            </c:strRef>
          </c:tx>
          <c:spPr>
            <a:solidFill>
              <a:srgbClr val="E9A23B"/>
            </a:solidFill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</c:v>
                  </c:pt>
                  <c:pt idx="1">
                    <c:v>02</c:v>
                  </c:pt>
                  <c:pt idx="2">
                    <c:v>04</c:v>
                  </c:pt>
                  <c:pt idx="3">
                    <c:v>06</c:v>
                  </c:pt>
                  <c:pt idx="4">
                    <c:v>08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</c:v>
                </c:pt>
                <c:pt idx="1">
                  <c:v>15</c:v>
                </c:pt>
                <c:pt idx="2">
                  <c:v>14</c:v>
                </c:pt>
                <c:pt idx="3">
                  <c:v>16</c:v>
                </c:pt>
                <c:pt idx="4">
                  <c:v>30</c:v>
                </c:pt>
                <c:pt idx="5">
                  <c:v>52</c:v>
                </c:pt>
                <c:pt idx="6">
                  <c:v>61</c:v>
                </c:pt>
                <c:pt idx="7">
                  <c:v>58</c:v>
                </c:pt>
                <c:pt idx="8">
                  <c:v>66</c:v>
                </c:pt>
                <c:pt idx="9">
                  <c:v>49</c:v>
                </c:pt>
                <c:pt idx="10">
                  <c:v>32</c:v>
                </c:pt>
                <c:pt idx="11">
                  <c:v>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capacity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</c:v>
                  </c:pt>
                  <c:pt idx="1">
                    <c:v>02</c:v>
                  </c:pt>
                  <c:pt idx="2">
                    <c:v>04</c:v>
                  </c:pt>
                  <c:pt idx="3">
                    <c:v>06</c:v>
                  </c:pt>
                  <c:pt idx="4">
                    <c:v>08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  <c:pt idx="11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Pods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SLO attainment per 15 s window (%), repetition 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B0 No bursting</c:v>
                </c:pt>
              </c:strCache>
            </c:strRef>
          </c:tx>
          <c:spPr>
            <a:solidFill>
              <a:srgbClr val="5B6675"/>
            </a:solidFill>
            <a:ln w="25400" cap="flat">
              <a:solidFill>
                <a:srgbClr val="5B66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675"/>
              </a:solidFill>
              <a:ln w="9525" cap="flat">
                <a:solidFill>
                  <a:srgbClr val="5B66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0.0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1.3</c:v>
                  </c:pt>
                  <c:pt idx="6">
                    <c:v>1.5</c:v>
                  </c:pt>
                  <c:pt idx="7">
                    <c:v>1.8</c:v>
                  </c:pt>
                  <c:pt idx="8">
                    <c:v>2.0</c:v>
                  </c:pt>
                  <c:pt idx="9">
                    <c:v>2.3</c:v>
                  </c:pt>
                  <c:pt idx="10">
                    <c:v>2.5</c:v>
                  </c:pt>
                  <c:pt idx="11">
                    <c:v>2.8</c:v>
                  </c:pt>
                  <c:pt idx="12">
                    <c:v>3.0</c:v>
                  </c:pt>
                  <c:pt idx="13">
                    <c:v>3.3</c:v>
                  </c:pt>
                  <c:pt idx="14">
                    <c:v>3.5</c:v>
                  </c:pt>
                  <c:pt idx="15">
                    <c:v>3.8</c:v>
                  </c:pt>
                  <c:pt idx="16">
                    <c:v>4.0</c:v>
                  </c:pt>
                  <c:pt idx="17">
                    <c:v>4.3</c:v>
                  </c:pt>
                  <c:pt idx="18">
                    <c:v>4.5</c:v>
                  </c:pt>
                  <c:pt idx="19">
                    <c:v>4.8</c:v>
                  </c:pt>
                  <c:pt idx="20">
                    <c:v>5.0</c:v>
                  </c:pt>
                  <c:pt idx="21">
                    <c:v>5.3</c:v>
                  </c:pt>
                  <c:pt idx="22">
                    <c:v>5.5</c:v>
                  </c:pt>
                  <c:pt idx="23">
                    <c:v>5.8</c:v>
                  </c:pt>
                  <c:pt idx="24">
                    <c:v>6.0</c:v>
                  </c:pt>
                  <c:pt idx="25">
                    <c:v>6.3</c:v>
                  </c:pt>
                  <c:pt idx="26">
                    <c:v>6.5</c:v>
                  </c:pt>
                  <c:pt idx="27">
                    <c:v>6.8</c:v>
                  </c:pt>
                  <c:pt idx="28">
                    <c:v>7.0</c:v>
                  </c:pt>
                  <c:pt idx="29">
                    <c:v>7.3</c:v>
                  </c:pt>
                  <c:pt idx="30">
                    <c:v>7.5</c:v>
                  </c:pt>
                  <c:pt idx="31">
                    <c:v>7.8</c:v>
                  </c:pt>
                  <c:pt idx="32">
                    <c:v>8.0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88.44</c:v>
                </c:pt>
                <c:pt idx="1">
                  <c:v>97.62</c:v>
                </c:pt>
                <c:pt idx="2">
                  <c:v>99.72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39.2</c:v>
                </c:pt>
                <c:pt idx="9">
                  <c:v>54.34</c:v>
                </c:pt>
                <c:pt idx="10">
                  <c:v>54.52</c:v>
                </c:pt>
                <c:pt idx="11">
                  <c:v>51.08</c:v>
                </c:pt>
                <c:pt idx="12">
                  <c:v>52.35</c:v>
                </c:pt>
                <c:pt idx="13">
                  <c:v>43.1</c:v>
                </c:pt>
                <c:pt idx="14">
                  <c:v>46.82</c:v>
                </c:pt>
                <c:pt idx="15">
                  <c:v>59.19</c:v>
                </c:pt>
                <c:pt idx="16">
                  <c:v>53.15</c:v>
                </c:pt>
                <c:pt idx="17">
                  <c:v>52.31</c:v>
                </c:pt>
                <c:pt idx="18">
                  <c:v>52.86</c:v>
                </c:pt>
                <c:pt idx="19">
                  <c:v>52.61</c:v>
                </c:pt>
                <c:pt idx="20">
                  <c:v>80.25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B1 Threshold-only</c:v>
                </c:pt>
              </c:strCache>
            </c:strRef>
          </c:tx>
          <c:spPr>
            <a:solidFill>
              <a:srgbClr val="E9A23B"/>
            </a:solidFill>
            <a:ln w="2540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0.0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1.3</c:v>
                  </c:pt>
                  <c:pt idx="6">
                    <c:v>1.5</c:v>
                  </c:pt>
                  <c:pt idx="7">
                    <c:v>1.8</c:v>
                  </c:pt>
                  <c:pt idx="8">
                    <c:v>2.0</c:v>
                  </c:pt>
                  <c:pt idx="9">
                    <c:v>2.3</c:v>
                  </c:pt>
                  <c:pt idx="10">
                    <c:v>2.5</c:v>
                  </c:pt>
                  <c:pt idx="11">
                    <c:v>2.8</c:v>
                  </c:pt>
                  <c:pt idx="12">
                    <c:v>3.0</c:v>
                  </c:pt>
                  <c:pt idx="13">
                    <c:v>3.3</c:v>
                  </c:pt>
                  <c:pt idx="14">
                    <c:v>3.5</c:v>
                  </c:pt>
                  <c:pt idx="15">
                    <c:v>3.8</c:v>
                  </c:pt>
                  <c:pt idx="16">
                    <c:v>4.0</c:v>
                  </c:pt>
                  <c:pt idx="17">
                    <c:v>4.3</c:v>
                  </c:pt>
                  <c:pt idx="18">
                    <c:v>4.5</c:v>
                  </c:pt>
                  <c:pt idx="19">
                    <c:v>4.8</c:v>
                  </c:pt>
                  <c:pt idx="20">
                    <c:v>5.0</c:v>
                  </c:pt>
                  <c:pt idx="21">
                    <c:v>5.3</c:v>
                  </c:pt>
                  <c:pt idx="22">
                    <c:v>5.5</c:v>
                  </c:pt>
                  <c:pt idx="23">
                    <c:v>5.8</c:v>
                  </c:pt>
                  <c:pt idx="24">
                    <c:v>6.0</c:v>
                  </c:pt>
                  <c:pt idx="25">
                    <c:v>6.3</c:v>
                  </c:pt>
                  <c:pt idx="26">
                    <c:v>6.5</c:v>
                  </c:pt>
                  <c:pt idx="27">
                    <c:v>6.8</c:v>
                  </c:pt>
                  <c:pt idx="28">
                    <c:v>7.0</c:v>
                  </c:pt>
                  <c:pt idx="29">
                    <c:v>7.3</c:v>
                  </c:pt>
                  <c:pt idx="30">
                    <c:v>7.5</c:v>
                  </c:pt>
                  <c:pt idx="31">
                    <c:v>7.8</c:v>
                  </c:pt>
                  <c:pt idx="32">
                    <c:v>8.0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92.5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68.18</c:v>
                </c:pt>
                <c:pt idx="9">
                  <c:v>77.42</c:v>
                </c:pt>
                <c:pt idx="10">
                  <c:v>81.59</c:v>
                </c:pt>
                <c:pt idx="11">
                  <c:v>97.28</c:v>
                </c:pt>
                <c:pt idx="12">
                  <c:v>98.14</c:v>
                </c:pt>
                <c:pt idx="13">
                  <c:v>99.08</c:v>
                </c:pt>
                <c:pt idx="14">
                  <c:v>99.19</c:v>
                </c:pt>
                <c:pt idx="15">
                  <c:v>98.19</c:v>
                </c:pt>
                <c:pt idx="16">
                  <c:v>99.11</c:v>
                </c:pt>
                <c:pt idx="17">
                  <c:v>98.58</c:v>
                </c:pt>
                <c:pt idx="18">
                  <c:v>98.92</c:v>
                </c:pt>
                <c:pt idx="19">
                  <c:v>98.78</c:v>
                </c:pt>
                <c:pt idx="20">
                  <c:v>99.53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Minutes into run (burst from 2.0 to 5.0)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project. One line: we are building a cloud-bursting controller that treats cost ceiling, latency and data residency as first-class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10 marks. We organised the deck so each rubric line has explicit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bursting: the area above the teal line is overflow. A bursting controller answers three questions. The third — which work — is where policy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given problem in our own words. The three constraints are what make bursting an institutional decision, not just a scheduling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PolicyBurst is our name for the proposed controller. Free-tier VMs cost nothing in reality, so spend is measured with shadow pricing at the provider's published on-demand rate. Thresholds (25%, 10 pp) are our commitments; we will report honestly if they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limitation column: every paper handles at most one or two of our three constraints, and most are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Starburst is the closest bursting system but optimises a cost-latency trade-off with no hard ceiling and no residency. Abdi et al. is the closest on sensitivity but is offline and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matrix is our contribution statement. The bottom row is what we must demonstrate by the final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node is a real k3s node; the public pool runs on the same host, with region labels, taints and netem WAN delay. The repo also has deploy/k3s scripts that join real free-tier VMs over Tailscale with the same labels — that is the planned final-review upgrade, listed as a threat to validity.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copies of real terminal output saved by deploy/k3s/05-evidence.sh. The two foreign-region nodes show the added netem delay in their round-trip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Implementing B1 inside our own codebase (constraints disabled) keeps the comparison fair: any gain comes from the policy, not from different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data: results/testbed/runs/&lt;config&gt;_m2_d180_s0.3_r&lt;rep&gt;/ (events.jsonl, summary.json). Requests are logged per Locust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 · Policy-Driven Cloud Bursting · Review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Policy-Driven Cloud Bursting Under Cost, Latency and Data-Residency Constraints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Problem Formulation and Baseline  ·  27/08/2026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P11  ·  Cloud Computing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Ramanuj Agarwal  ·  23BCE1861   |   Guide: Indra Priyadarshini 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PVT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051560"/>
            <a:ext cx="822960" cy="914"/>
          </a:xfrm>
          <a:prstGeom prst="line">
            <a:avLst/>
          </a:prstGeom>
          <a:noFill/>
          <a:ln w="22225">
            <a:solidFill>
              <a:srgbClr val="CADC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73152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Each rubric component maps to a section of the deck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Literature survey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15 papers (2021–2024) as a gap table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Slides 6–8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10312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Problem &amp; hypothesis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657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Own restatement + falsifiable claim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Slides 3–5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3m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Testbed evidence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657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k3s private + public node joined, screenshots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Slides 9–10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0" y="210312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2m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Baseline reproduced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657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Threshold-only and no-burst runs with numbers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Slides 11–12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bursting in one picture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Private capacity is sized for typical load; public capacity absorbs the peaks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9019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When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to burst — what signal and how early?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0" y="32004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26680" y="3364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How much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capacity to acquire — and for how long?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466344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CEFD9"/>
          </a:solidFill>
          <a:ln w="9525">
            <a:solidFill>
              <a:srgbClr val="FCEF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4828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Which work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5257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goes outward — and to which destination?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in our words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A single-threshold controller is blind to the rules that actually govern an institution's bursting decision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typical production rule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cpu_util &gt; 0.80 or pending_pods &gt; 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add_public_node()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schedule_overflow(anywhere)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What it optimises: keeping pods running.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What it ignores: who pays, where the data goes, and whether the destination is fast enough.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98348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8DDE1"/>
          </a:solidFill>
          <a:ln w="9525">
            <a:solidFill>
              <a:srgbClr val="F8DD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120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95B"/>
                </a:solidFill>
              </a:rPr>
              <a:t>Result: decisions that are operationally correct but administratively or legally unacceptable.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1737360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2011680"/>
            <a:ext cx="731520" cy="7315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₹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Monthly expenditure ceiling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26771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Public spend must never exceed the approved budget — a hard cap, not a soft preference.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3218688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3493008"/>
            <a:ext cx="731520" cy="731520"/>
          </a:xfrm>
          <a:prstGeom prst="ellipse">
            <a:avLst/>
          </a:prstGeom>
          <a:solidFill>
            <a:srgbClr val="4C6A92"/>
          </a:solidFill>
          <a:ln w="12700">
            <a:solidFill>
              <a:srgbClr val="4C6A9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355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Latency requirement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749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Some public regions cannot meet the service-level latency; sending work there fails the SLO anyway.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4700016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4974336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4974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Data residency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230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Data classed as restricted (e.g. personal data under the DPDP Act 2023) must stay inside India.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Falsifiable hypotheses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Method X reduces metric M by at least N% compared to baseline B under condition 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80960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675"/>
                </a:solidFill>
              </a:rPr>
              <a:t>Efficiency (O1–O3)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0574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PolicyBurst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improves </a:t>
            </a:r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SLO attainment per ₹ spent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by </a:t>
            </a:r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≥ 25%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over </a:t>
            </a:r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threshold-only bursting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under bursts of 1.5–4× private capacity with a fixed monthly ceiling.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7680960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63240"/>
            <a:ext cx="731520" cy="7315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990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675"/>
                </a:solidFill>
              </a:rPr>
              <a:t>Hard-constraint compliance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26440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PolicyBurst records </a:t>
            </a:r>
            <a:pPr indent="0" marL="0">
              <a:buNone/>
            </a:pPr>
            <a:r>
              <a:rPr lang="en-US" sz="1400" b="1" dirty="0">
                <a:solidFill>
                  <a:srgbClr val="E9A23B"/>
                </a:solidFill>
              </a:rPr>
              <a:t>zero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ceiling breaches and </a:t>
            </a:r>
            <a:pPr indent="0" marL="0">
              <a:buNone/>
            </a:pPr>
            <a:r>
              <a:rPr lang="en-US" sz="1400" b="1" dirty="0">
                <a:solidFill>
                  <a:srgbClr val="E9A23B"/>
                </a:solidFill>
              </a:rPr>
              <a:t>zero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residency violations in every run, while the threshold baseline breaches the ceiling whenever cumulative burst load exceeds the budget.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05656"/>
            <a:ext cx="7680960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70248"/>
            <a:ext cx="731520" cy="731520"/>
          </a:xfrm>
          <a:prstGeom prst="ellipse">
            <a:avLst/>
          </a:prstGeom>
          <a:solidFill>
            <a:srgbClr val="4C6A92"/>
          </a:solidFill>
          <a:ln w="12700">
            <a:solidFill>
              <a:srgbClr val="4C6A9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702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97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675"/>
                </a:solidFill>
              </a:rPr>
              <a:t>Cost of compliance (O4)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47141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With 30% of traffic tagged restricted, enforcing residency lowers SLO attainment by </a:t>
            </a:r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≤ 10 percentage points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compared to the same controller with residency disabled.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95360" y="1691640"/>
            <a:ext cx="3017520" cy="346557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Definitions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224028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SLO: request succeeds within 300 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Attainment: share of all requests meeting SLO (rejections count as misses)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₹ spent: public node-hours × published on-demand rate (shadow price)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Burst: load above private capacity for 1–5 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8DDE1"/>
          </a:solidFill>
          <a:ln w="9525">
            <a:solidFill>
              <a:srgbClr val="F8DD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413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95B"/>
                </a:solidFill>
              </a:rPr>
              <a:t>Falsified if: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the gain in H1 is under 25% across the burst matrix, any PolicyBurst run breaches the ceiling or residency, or the H3 penalty exceeds 10 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— gap table (1 of 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15 papers, 2021 onwards, ordered by year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2423160"/>
                <a:gridCol w="2103120"/>
                <a:gridCol w="1325880"/>
                <a:gridCol w="1965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testbed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(gap)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Stoica &amp; Shenker, HotOS 2021 — From Cloud Computing to Sky Computing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of an intercloud broker over interoperable clouds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controller or evaluation; constraints discussed only abstractly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Wiesner et al., Middleware 2021 — Let's Wait Awhile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shifting of delay-tolerant jobs to low-carbon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on 2020 grid-carbon data (DE, GB, FR, 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saved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objective (carbon); no budget, latency or residency limits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Ju, Singh &amp; Toor, UCC 2021 Companion — Proactive Autoscaling for Edge with Kubernetes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Forecast-driven proactive pod autoscaler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edge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Utilisation, response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inside one cluster; no external capacity or cost cap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Toka et al., IEEE TNSM 2021 — ML-based scaling management for Kubernetes edge clusters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forecasting drives scaling 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edge clusters, request traces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requests, resources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cluster; no cost or data-placement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Phuc, Phan &amp; Kim, IEEE Access 2022 — Traffic-Aware HPA in Kubernetes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HPA that places replicas by per-node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edge testbed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Throughput, response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Placement by traffic only; ignores cost and jurisdiction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Xiao, Zhou, Yang &amp; He, FGCS 130, 2022 — Privacy-preserving workflow scheduling in geo-distributed DCs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scheduling with privacy limits on cross-DC data movement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Simulation, scientific 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Makespan,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workflow planning; no live bursting or spend ceiling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Iorio et al., IEEE TCC 2023 — Computing Without Borders (Liqo)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Peers Kubernetes clusters; offloads pods via a virtual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Liqo on real multi-cluster Kubernetes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Overhead, 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Mechanism, not policy: no cost- or residency-aware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et al., NSDI 2023 — SkyPilot: An Intercloud Broker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 picks cheapest cloud/region meeting job 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GCP, Azure; ML &amp; batch jobs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Cost, completion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jobs, public-only; region limits set manually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— gap table (2 of 2)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Closest prior work: Starburst (cost-aware bursting) and Abdi et al. (sensitive tasks kept private)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2423160"/>
                <a:gridCol w="2103120"/>
                <a:gridCol w="1325880"/>
                <a:gridCol w="1965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testbed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(gap)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Yang, Xia, Ye, Gao &amp; Zhan, IEEE TCC 2023 — HPCP-PSO workflow scheduling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PSO minimises cost within a workflow deadline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cloud, scientific 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Cost, deadline success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public cloud; no residency; static 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TanGo, IEEE INFOCOM 2023 — Tenant task placement in geo-distributed clouds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Submodular (1−1/e) approximation for placement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Simulation, geo-distributed 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Sovereignty cited as motivation, not modelled; offline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Tekawade &amp; Banerjee, COMSNETS 2023 — Reliability-aware multi-cloud task-graph scheduler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Cost-effective, reliability-aware scheduling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Cost, reliability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private/public split, no residency constraint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Luo et al., USENIX ATC 2024 — Starburst: Cost-aware Scheduler for Hybrid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budget: big jobs wait for private, small jobs burst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traces + 32-GPU private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cost, JCT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Cost–JCT trade-off only; no hard ceiling, latency or residency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al., NSDI 2024 — Can't Be Late: Spot Savings under Deadlines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Progress: spot with on-demand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SkyPilot on public cloud, real workloads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saved, deadlines 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+ cost only; no jurisdiction or private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Abdi, Ashjaei &amp; Mubeen, FGCS 2024 — Deadline-constrained security-aware workflow scheduling in hybrid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sensitive tasks private, minimises cost under deadline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Simulation, scientific 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to residency, but offline and simulated; no live 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Sukprasert et al., EuroSys 2024 — Carbon-aware temporal and spatial workload shifting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Trace-driven analysis of shifting across time and 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carbon-intensity traces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study; no controller, no policy enforcement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no one enforces all three, live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Residency is almost never a first-class input to a bursting decision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cost ceiling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Per-destination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residency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private + public K8s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Starburst (ATC'24)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Be Late (NSDI'24)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SkyPilot (NSDI'23)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Liqo (TCC'23)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Abdi et al. (FGCS'24)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 et al. (FGCS'22)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edge autoscalers ('21–'22)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PolicyBurst (this work)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</a:rPr>
              <a:t>“Partial” = treated as a soft objective, a manual setting, or only in simulation. Cells summarise the papers' stated scope.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Testbed design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A real 5-node k3s cluster: 2 private nodes and 3 public nodes, every node 2 vCPU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DDF1EE"/>
          </a:solidFill>
          <a:ln w="9525">
            <a:solidFill>
              <a:srgbClr val="DDF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PRIVATE CAPACITY — region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46634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240280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server-0: k3s server + control plane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990088"/>
            <a:ext cx="46634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90088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agent-0: k3s 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739896"/>
            <a:ext cx="46634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739896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metrics-server · HPA (60% CPU, 1–30 pods)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489704"/>
            <a:ext cx="46634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489704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PolicyBurst controller · Locust (on host)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5239512"/>
            <a:ext cx="46634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239512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App: records / lms / static (3 data classes)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169164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CEFD9"/>
          </a:solidFill>
          <a:ln w="9525">
            <a:solidFill>
              <a:srgbClr val="FCE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5761A"/>
                </a:solidFill>
              </a:rPr>
              <a:t>PUBLIC OVERFLOW POOL — tainted, cordoned until needed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24028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2240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pub-in · agent-1   </a:t>
            </a:r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region IN · no added delay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310896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3108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pub-sg · agent-2   </a:t>
            </a:r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region non-IN · +40 ms netem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0840" y="397764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9A2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3977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pub-us · agent-3   </a:t>
            </a:r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region non-IN · +120 ms netem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278892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Docker bridge + netem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4023360"/>
            <a:ext cx="822960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5669280" y="2651760"/>
            <a:ext cx="822960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92240" y="51206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5166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</a:rPr>
              <a:t>Host: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DEATHSTAR, WSL2 Ubuntu 26.04, 16 vCPU · k3s v1.35.5 via k3d 5.9 · node CPU capped with docker --cpus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Testbed evidence: the environment runs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Captured on DEATHSTAR at 2026-10-25 23:55:01 UTC · raw output in evidence/20261025-235501/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Nodes, with destination and region labels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nodes -L p11.burst/destination,p11.burst/region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   STATUS                     ROLES           AGE     VERSION        DESTINATION   REGION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k3d-p11-agent-0    Ready                      &lt;none&gt;          3h51m   v1.35.5+k3s1   private      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k3d-p11-agent-1    Ready,SchedulingDisabled   &lt;none&gt;          3h51m   v1.35.5+k3s1   pub-in       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k3d-p11-agent-2    Ready,SchedulingDisabled   &lt;none&gt;          3h51m   v1.35.5+k3s1   pub-sg        non-IN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k3d-p11-agent-3    Ready,SchedulingDisabled   &lt;none&gt;          3h51m   v1.35.5+k3s1   pub-us        non-IN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k3d-p11-server-0   Ready                      control-plane   3h51m   v1.35.5+k3s1   private       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</a:rPr>
              <a:t>Workload pods (idle) and measured round-trip time to each node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6035040" cy="1920240"/>
          </a:xfrm>
          <a:prstGeom prst="roundRect">
            <a:avLst>
              <a:gd name="adj" fmla="val 3810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34340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-n p11-app -o custom-columns=...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                      STATUS    NODE               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lms-65bbb485c-h4qr2       Running   k3d-p11-agent-0    10.42.0.110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records-57cbbc7df-h8wbc   Running   k3d-p11-agent-0    10.42.0.115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static-598f6bc747-wgss6   Running   k3d-p11-server-0   10.42.3.115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420624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434340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ping -c 5 &lt;node-ip&gt;   (avg RTT)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k3d-p11-agent-0    172.18.0.5   0.049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k3d-p11-agent-1    172.18.0.3   0.051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k3d-p11-agent-2    172.18.0.6   37.861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k3d-p11-agent-3    172.18.0.4   119.493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k3d-p11-server-0   172.18.0.2   0.060 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named in the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Both baselines share the same app, load and metrics as PolicyBurst — only the decision logic differs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731520" cy="731520"/>
          </a:xfrm>
          <a:prstGeom prst="ellipse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No bursting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Public node cordoned; private cluster absorbs or rejects all 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HPA scales replicas up to private node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Excess requests queue, time out, or receive 503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Lower bound on attainment, zero spend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CEFD9"/>
          </a:solidFill>
          <a:ln w="9525">
            <a:solidFill>
              <a:srgbClr val="FCE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74520"/>
            <a:ext cx="731520" cy="7315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</a:rPr>
              <a:t>Threshold-only bursting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46520" y="265176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7889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15 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cpu &gt; 75% or pending &gt; 0 for 30 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uncordon cheapest public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allow every pod on every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cpu &lt; 40% for 2 min: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drain + cordon priciest public node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7548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No spend ceiling, no latency or residency check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Same reconcile loop as PolicyBurst with constraints switched off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reproduced: first numbers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Measured on the testbed: 2× private capacity for 180 s, 3 repetitions, mean ± 95% CI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463040"/>
                <a:gridCol w="146304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 attainment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 (ms)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node-hours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(₹, shadow)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Residency violations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— No bursting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 ± 14.5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— Threshold-only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 ± 3.5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3154680"/>
          <a:ext cx="69494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772400" y="3154680"/>
            <a:ext cx="38404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95528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What the numbers show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955280" y="365760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Bursting lifts attainment from 67% to 93%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B1 spends ₹44.4 per burst with no ceiling check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B1 served 7163 restricted requests outside India per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Review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Objectives O1 and O2 evidenced in code by 23/09/2026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Wk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2240280"/>
            <a:ext cx="1828800" cy="914"/>
          </a:xfrm>
          <a:prstGeom prst="line">
            <a:avLst/>
          </a:prstGeom>
          <a:noFill/>
          <a:ln w="22225">
            <a:solidFill>
              <a:srgbClr val="C9D3D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Policy model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BurstPolicy CRD, data-class labels, destination catalogue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Wk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240280"/>
            <a:ext cx="1828800" cy="914"/>
          </a:xfrm>
          <a:prstGeom prst="line">
            <a:avLst/>
          </a:prstGeom>
          <a:noFill/>
          <a:ln w="22225">
            <a:solidFill>
              <a:srgbClr val="C9D3D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3832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Feasibility filters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3375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Residency + latency filters; RTT probes to each destination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Wk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0" y="2240280"/>
            <a:ext cx="1828800" cy="914"/>
          </a:xfrm>
          <a:prstGeom prst="line">
            <a:avLst/>
          </a:prstGeom>
          <a:noFill/>
          <a:ln w="22225">
            <a:solidFill>
              <a:srgbClr val="C9D3DC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2179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Cost accumulator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3375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Shadow-priced metering, projected-spend gate, halt at ceiling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25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Wk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Experiments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3375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Burst matrix × 4 configs × 3 reps; first comparison graphs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Repository: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github.com/AviatorRoyal/cloud-burst — controller, baselines, Locust shapes, experiment runner and analysis scripts, all version-controlled from day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[1] Stoica &amp; Shenker, HotOS 2021 — From Cloud Computing to Sky Computing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[2] Wiesner et al., Middleware 2021 — Let's Wait Awhile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[3] Ju, Singh &amp; Toor, UCC 2021 Companion — Proactive Autoscaling for Edge with Kubernetes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[4] Toka et al., IEEE TNSM 2021 — ML-based scaling management for Kubernetes edge clusters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[5] Phuc, Phan &amp; Kim, IEEE Access 2022 — Traffic-Aware HPA in Kubernetes Edge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[6] Xiao, Zhou, Yang &amp; He, FGCS 130, 2022 — Privacy-preserving workflow scheduling in geo-distributed DCs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[7] Iorio et al., IEEE TCC 2023 — Computing Without Borders (Liqo)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[8] Yang et al., NSDI 2023 — SkyPilot: An Intercloud Broker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32588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[9] Yang, Xia, Ye, Gao &amp; Zhan, IEEE TCC 2023 — HPCP-PSO workflow scheduling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[10] TanGo, IEEE INFOCOM 2023 — Tenant task placement in geo-distributed clouds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[11] Tekawade &amp; Banerjee, COMSNETS 2023 — Reliability-aware multi-cloud task-graph scheduler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[12] Luo et al., USENIX ATC 2024 — Starburst: Cost-aware Scheduler for Hybrid Cloud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[13] Wu et al., NSDI 2024 — Can't Be Late: Spot Savings under Deadlines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[14] Abdi, Ashjaei &amp; Mubeen, FGCS 2024 — Deadline-constrained security-aware workflow scheduling in hybrid cloud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[15] Sukprasert et al., EuroSys 2024 — Carbon-aware temporal and spatial workload shifting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constraint-aware bursting gives ≥ 25% more SLO attainment per ₹, with zero ceiling or residency violations.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11 Cloud Bursting">
  <a:themeElements>
    <a:clrScheme name="P11 Cloud Bursting">
      <a:dk1>
        <a:srgbClr val="1B2430"/>
      </a:dk1>
      <a:lt1>
        <a:srgbClr val="FFFFFF"/>
      </a:lt1>
      <a:dk2>
        <a:srgbClr val="12263A"/>
      </a:dk2>
      <a:lt2>
        <a:srgbClr val="EEF3F6"/>
      </a:lt2>
      <a:accent1>
        <a:srgbClr val="2A9D8F"/>
      </a:accent1>
      <a:accent2>
        <a:srgbClr val="E9A23B"/>
      </a:accent2>
      <a:accent3>
        <a:srgbClr val="D1495B"/>
      </a:accent3>
      <a:accent4>
        <a:srgbClr val="4C6A92"/>
      </a:accent4>
      <a:accent5>
        <a:srgbClr val="8AB17D"/>
      </a:accent5>
      <a:accent6>
        <a:srgbClr val="6C757D"/>
      </a:accent6>
      <a:hlink>
        <a:srgbClr val="2A9D8F"/>
      </a:hlink>
      <a:folHlink>
        <a:srgbClr val="4C6A92"/>
      </a:folHlink>
    </a:clrScheme>
    <a:fontScheme name="P11 Cloud Burs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P11 Review 1 — Problem Formulation and Baseline</dc:title>
  <dc:subject>PptxGenJS Presentation</dc:subject>
  <dc:creator>Team P11</dc:creator>
  <cp:lastModifiedBy>Team P11</cp:lastModifiedBy>
  <cp:revision>1</cp:revision>
  <dcterms:created xsi:type="dcterms:W3CDTF">2026-10-25T23:57:01Z</dcterms:created>
  <dcterms:modified xsi:type="dcterms:W3CDTF">2026-10-25T23:57:01Z</dcterms:modified>
</cp:coreProperties>
</file>