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f7acb05-48f9-2d4d-bfc4-16350d25b4c2}">
          <p14:sldIdLst>
            <p14:sldId id="256"/>
            <p14:sldId id="257"/>
          </p14:sldIdLst>
        </p14:section>
        <p14:section name="Problem" id="{5196393c-c421-266d-5d10-3982ca835bee}">
          <p14:sldIdLst>
            <p14:sldId id="258"/>
            <p14:sldId id="259"/>
            <p14:sldId id="260"/>
          </p14:sldIdLst>
        </p14:section>
        <p14:section name="Literature" id="{c46979f4-dcad-b1d4-30c0-70bd70d07b6e}">
          <p14:sldIdLst>
            <p14:sldId id="261"/>
            <p14:sldId id="262"/>
            <p14:sldId id="263"/>
          </p14:sldIdLst>
        </p14:section>
        <p14:section name="Testbed" id="{8866b128-16e5-013a-0cec-fb4db63f1c32}">
          <p14:sldIdLst>
            <p14:sldId id="264"/>
            <p14:sldId id="265"/>
          </p14:sldIdLst>
        </p14:section>
        <p14:section name="Baseline" id="{e06b5374-21d9-c288-baff-4eb0f171bfd5}">
          <p14:sldIdLst>
            <p14:sldId id="266"/>
            <p14:sldId id="267"/>
          </p14:sldIdLst>
        </p14:section>
        <p14:section name="Plan" id="{e8314461-1901-0947-e7de-e88912431154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Conceptual daily demand vs fixed private capacity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 (pods)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</c:v>
                </c:pt>
                <c:pt idx="1">
                  <c:v>15</c:v>
                </c:pt>
                <c:pt idx="2">
                  <c:v>14</c:v>
                </c:pt>
                <c:pt idx="3">
                  <c:v>16</c:v>
                </c:pt>
                <c:pt idx="4">
                  <c:v>30</c:v>
                </c:pt>
                <c:pt idx="5">
                  <c:v>52</c:v>
                </c:pt>
                <c:pt idx="6">
                  <c:v>61</c:v>
                </c:pt>
                <c:pt idx="7">
                  <c:v>58</c:v>
                </c:pt>
                <c:pt idx="8">
                  <c:v>66</c:v>
                </c:pt>
                <c:pt idx="9">
                  <c:v>49</c:v>
                </c:pt>
                <c:pt idx="10">
                  <c:v>32</c:v>
                </c:pt>
                <c:pt idx="11">
                  <c:v>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capacity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00</c:v>
                  </c:pt>
                  <c:pt idx="1">
                    <c:v>02</c:v>
                  </c:pt>
                  <c:pt idx="2">
                    <c:v>04</c:v>
                  </c:pt>
                  <c:pt idx="3">
                    <c:v>06</c:v>
                  </c:pt>
                  <c:pt idx="4">
                    <c:v>08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  <c:pt idx="10">
                  <c:v>40</c:v>
                </c:pt>
                <c:pt idx="11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Hour of 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Pods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project. One line: we are building a cloud-bursting controller that treats cost ceiling, latency and data residency as first-class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10 marks. We organised the deck so each rubric line has explicit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bursting: the area above the teal line is overflow. A bursting controller answers three questions. The third — which work — is where policy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Restate the given problem in our own words. The three constraints are what make bursting an institutional decision, not just a scheduling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PolicyBurst is our name for the proposed controller. Free-tier VMs cost nothing in reality, so spend is measured with shadow pricing at the provider's published on-demand rate. Thresholds (25%, 10 pp) are our commitments; we will report honestly if they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limitation column: every paper handles at most one or two of our three constraints, and most are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Starburst is the closest bursting system but optimises a cost-latency trade-off with no hard ceiling and no residency. Abdi et al. is the closest on sensitivity but is offline and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matrix is our contribution statement. The bottom row is what we must demonstrate by the final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Free-tier options: Oracle Cloud Always Free (Hyderabad/Mumbai) or AWS free tier in ap-south-1. A second public destination outside India is emulated with tc netem delay plus a non-IN region label, since a second paid region is out of budget — we state this as a threat to validity.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two frames with real screenshots before the review. Timestamps and hostnames make it obvious the environment is ours and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Implementing B1 inside our own codebase (constraints disabled) keeps the comparison fair: any gain comes from the policy, not from different plumbing.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this table from the actual baseline runs before the review. The rubric only credits a baseline that runs and produces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 · Policy-Driven Cloud Bursting ·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Policy-Driven Cloud Bursting Under Cost, Latency and Data-Residency Constraints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Problem Formulation and Baseline  ·  27/08/2026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P11  ·  Cloud Computing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Ramanuj Agarwal  ·  23BCE1861   |   Guide: Indra Priyadarshini 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PVT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63040" y="1051560"/>
            <a:ext cx="822960" cy="914"/>
          </a:xfrm>
          <a:prstGeom prst="line">
            <a:avLst/>
          </a:prstGeom>
          <a:noFill/>
          <a:ln w="22225">
            <a:solidFill>
              <a:srgbClr val="CAD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77440" y="73152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7744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review covers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Each rubric component maps to a section of the deck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Literature survey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15 papers (2021–2024) as a gap table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6–8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Problem &amp; hypothesis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Own restatement + falsifiable claim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3–5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Testbed evidence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private + public node joined, screenshots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9–10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2688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Baseline reproduced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657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Threshold-only and no-burst runs with numbers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11–12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bursting in one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Private capacity is sized for typical load; public capacity absorbs the peaks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73736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9019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When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331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to burst — what signal and how early?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98080" y="320040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26680" y="33649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How much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3794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capacity to acquire — and for how long?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98080" y="466344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26680" y="48280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Which work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5257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goes outward — and to which destination?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in our words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A single-threshold controller is blind to the rules that actually govern an institution's bursting decision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typical production rule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cpu_util &gt; 0.80 or pending_pods &gt;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add_public_node()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schedule_overflow(anywhere)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What it optimises: keeping pods running.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What it ignores: who pays, where the data goes, and whether the destination is fast enough.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983480"/>
            <a:ext cx="4754880" cy="1143000"/>
          </a:xfrm>
          <a:prstGeom prst="roundRect">
            <a:avLst>
              <a:gd name="adj" fmla="val 6400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</a:rPr>
              <a:t>Result: decisions that are operationally correct but administratively or legally unacceptable.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60720" y="1737360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0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₹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Monthly expenditure ceiling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26771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Public spend must never exceed the approved budget — a hard cap, not a soft preference.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60720" y="3218688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0" y="3493008"/>
            <a:ext cx="731520" cy="7315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0" y="3493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55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Latency requirement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3749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Some public regions cannot meet the service-level latency; sending work there fails the SLO anyway.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4700016"/>
            <a:ext cx="58521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0" y="4974336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0" y="4974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8371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Data residency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52303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Data classed as restricted (e.g. personal data under the DPDP Act 2023) must stay inside India.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Falsifiable hypotheses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Method X reduces metric M by at least N% compared to baseline B under condition 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56232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562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Efficiency (O1–O3)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05740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PolicyBurst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improves </a:t>
            </a:r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SLO attainment per ₹ spent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by </a:t>
            </a:r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</a:rPr>
              <a:t>≥ 25%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over </a:t>
            </a:r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threshold-only bursting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under bursts of 2–6× private capacity with a fixed monthly ceiling.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898648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6324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990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Hard-constraint compliance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26440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PolicyBurst records </a:t>
            </a:r>
            <a:pPr indent="0" marL="0">
              <a:buNone/>
            </a:pPr>
            <a:r>
              <a:rPr lang="en-US" sz="1400" b="1" dirty="0">
                <a:solidFill>
                  <a:srgbClr val="E9A23B"/>
                </a:solidFill>
              </a:rPr>
              <a:t>zero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ceiling breaches and </a:t>
            </a:r>
            <a:pPr indent="0" marL="0">
              <a:buNone/>
            </a:pPr>
            <a:r>
              <a:rPr lang="en-US" sz="1400" b="1" dirty="0">
                <a:solidFill>
                  <a:srgbClr val="E9A23B"/>
                </a:solidFill>
              </a:rPr>
              <a:t>zero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residency violations in every run, while the threshold baseline breaches the ceiling whenever cumulative burst load exceeds the budget.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05656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0248"/>
            <a:ext cx="731520" cy="7315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2702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1970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</a:rPr>
              <a:t>Cost of compliance (O4)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47141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With 30% of traffic tagged restricted, enforcing residency lowers SLO attainment by </a:t>
            </a:r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≤ 10 percentage points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compared to the same controller with residency disabled.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95360" y="1691640"/>
            <a:ext cx="3017520" cy="3465576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Definitions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2240280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SLO: request succeeds within 300 ms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Attainment: share of all requests meeting SLO (rejections count as misses)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₹ spent: public node-hours × published on-demand rate (shadow price)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Burst: load above private capacity for 1–5 min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1495B"/>
                </a:solidFill>
              </a:rPr>
              <a:t>Falsified if: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the gain in H1 is under 25% across the burst matrix, any PolicyBurst run breaches the ceiling or residency, or the H3 penalty exceeds 10 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— gap table (1 of 2)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15 papers, 2021 onwards, ordered by year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2423160"/>
                <a:gridCol w="2103120"/>
                <a:gridCol w="1325880"/>
                <a:gridCol w="1965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/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(gap)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Stoica &amp; Shenker, HotOS 2021 — From Cloud Computing to Sky Computing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of an intercloud broker over interoperable clouds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controller or evaluation; constraints discussed only abstractly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Wiesner et al., Middleware 2021 — Let's Wait Awhile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shifting of delay-tolerant jobs to low-carbon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on 2020 grid-carbon data (DE, GB, FR, 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 saved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objective (carbon); no budget, latency or residency limits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Ju, Singh &amp; Toor, UCC 2021 Companion — Proactive Autoscaling for Edge with Kubernetes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Forecast-driven proactive pod autoscaler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Utilisation, response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inside one cluster; no external capacity or cost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Toka et al., IEEE TNSM 2021 — ML-based scaling management for Kubernetes edge clusters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forecasting drives scaling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clusters, request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requests, resources used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cluster; no cost or data-placement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Phuc, Phan &amp; Kim, IEEE Access 2022 — Traffic-Aware HPA in Kubernetes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that places replicas by per-node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edge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Throughput, response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Placement by traffic only; ignores cost and jurisdiction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Xiao, Zhou, Yang &amp; He, FGCS 130, 2022 — Privacy-preserving workflow scheduling in geo-distributed DCs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scheduling with privacy limits on cross-DC data movement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Makespan,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workflow planning; no live bursting or spend ceiling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Iorio et al., IEEE TCC 2023 — Computing Without Borders (Liqo)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Peers Kubernetes clusters; offloads pods via a virtual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Liqo on real multi-cluster Kubernetes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Overhead,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Mechanism, not policy: no cost- or residency-aware 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et al., NSDI 2023 — SkyPilot: An Intercloud Broker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 picks cheapest cloud/region meeting job needs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AWS, GCP, Azure; ML &amp; batch jobs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completion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jobs, public-only; region limits set manually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— gap table (2 of 2)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Closest prior work: Starburst (cost-aware bursting) and Abdi et al. (sensitive tasks kept private)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2423160"/>
                <a:gridCol w="2103120"/>
                <a:gridCol w="1325880"/>
                <a:gridCol w="1965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/ testbed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(gap)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Yang, Xia, Ye, Gao &amp; Zhan, IEEE TCC 2023 — HPCP-PSO workflow scheduling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PSO minimises cost within a workflow deadline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cloud,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deadline success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public cloud; no residency; static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TanGo, IEEE INFOCOM 2023 — Tenant task placement in geo-distributed clouds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Submodular (1−1/e) approximation for 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geo-distributed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Sovereignty cited as motivation, not modelled; offline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Tekawade &amp; Banerjee, COMSNETS 2023 — Reliability-aware multi-cloud task-graph scheduler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Cost-effective, reliability-aware scheduling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Cost, reliability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private/public split, no residency constraint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Luo et al., USENIX ATC 2024 — Starburst: Cost-aware Scheduler for Hybrid Cloud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budget: big jobs wait for private, small jobs burst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traces + 32-GPU private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cost, JCT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Cost–JCT trade-off only; no hard ceiling, latency or residency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al., NSDI 2024 — Can't Be Late: Spot Savings under Deadlines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Progress: spot with on-demand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SkyPilot on public cloud, real workloads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saved, deadlines met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 + cost only; no jurisdiction or private 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Abdi, Ashjaei &amp; Mubeen, FGCS 2024 — Deadline-constrained security-aware workflow scheduling in hybrid cloud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sensitive tasks private, minimises cost under deadline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Simulation, scientific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to residency, but offline and simulated; no live controller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Sukprasert et al., EuroSys 2024 — Carbon-aware temporal and spatial workload shifting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Trace-driven analysis of shifting across time and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carbon-intensity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study; no controller, no policy enforcement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gap: no one enforces all three, live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Residency is almost never a first-class input to a bursting decision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cost ceiling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Per-destination latency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residency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private + public K8s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Starburst (ATC'24)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Be Late (NSDI'24)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SkyPilot (NSDI'23)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Liqo (TCC'23)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Abdi et al. (FGCS'24)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 et al. (FGCS'22)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edge autoscalers ('21–'22)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PolicyBurst (this 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</a:rPr>
              <a:t>“Partial” = treated as a soft objective, a manual setting, or only in simulation. Cells summarise the papers' stated scope.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design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Private k3s cluster on campus hardware, public free-tier nodes joined over an encrypted overlay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4434840"/>
          </a:xfrm>
          <a:prstGeom prst="roundRect">
            <a:avLst>
              <a:gd name="adj" fmla="val 1649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</a:rPr>
              <a:t>PRIVATE CAPACITY — on-prem, India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40280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server (control plane)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990088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990088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agent-1 · agent-2 (Ubuntu VMs)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739896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739896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Prometheus + metrics-server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4489704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89704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PolicyBurst controller (Python)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5239512"/>
            <a:ext cx="4663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239512"/>
            <a:ext cx="4389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Sample app: 3 services, data-class labels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169164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761A"/>
                </a:solidFill>
              </a:rPr>
              <a:t>PUBLIC OVERFLOW POOL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224028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23500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pub-in: free-tier VM, Indian region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region=IN · tainted burst=public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20840" y="34290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9A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35387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pub-far: same VM + 120 ms netem delay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region=non-IN (emulated far region)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2788920"/>
            <a:ext cx="777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</a:rPr>
              <a:t>WireGuard / Tailscale overlay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4023360"/>
            <a:ext cx="822960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5669280" y="2651760"/>
            <a:ext cx="822960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92240" y="49834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50749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Locust load generator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drives bursts of 2–6× capacity for 1–5 min against the app ingress; results land in CSV + Prometheus.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evidence: the environment runs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Rubric: a screenshot or log proving it runs — slides alone score 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520440"/>
          </a:xfrm>
          <a:prstGeom prst="roundRect">
            <a:avLst>
              <a:gd name="adj" fmla="val 2078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SCREENSHOT FROM YOUR TESTBED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Private server + agents and the public node(s) all Ready, with region labels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nodes -o wide --show-labels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Paste screenshot here (crop to the terminal, include hostname and timestamp)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394960" cy="3520440"/>
          </a:xfrm>
          <a:prstGeom prst="roundRect">
            <a:avLst>
              <a:gd name="adj" fmla="val 2078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0" y="17830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SCREENSHOT FROM YOUR TESTBED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286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</a:rPr>
              <a:t>App pods on private nodes; Prometheus and controller running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315468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-A -o wide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Paste screenshot here (crop to the terminal, include hostname and timestamp)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394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Also attach: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k3s agent join log from the public VM · Locust web UI at a burst peak · `kubectl describe node pub-in` showing taints and labels.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named in the statement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Both baselines share the same app, load and metrics as PolicyBurst — only the decision logic differs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731520" cy="73152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5B66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No bursting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Public node cordoned; private cluster absorbs or rejects all load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HPA scales replicas up to private node limits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Excess requests queue, time out, or receive 503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</a:rPr>
              <a:t>Lower bound on attainment, zero spend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CEFD9"/>
          </a:solidFill>
          <a:ln w="9525">
            <a:solidFill>
              <a:srgbClr val="FCEF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87452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965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</a:rPr>
              <a:t>Threshold-only bursting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651760"/>
            <a:ext cx="4937760" cy="1920240"/>
          </a:xfrm>
          <a:prstGeom prst="roundRect">
            <a:avLst>
              <a:gd name="adj" fmla="val 3810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7889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15 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cpu &gt; 75% or pending &gt; 0 for 30 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uncordon public node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add toleration -&gt; any pod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cpu &lt; 40% for 5 min: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drain + cordon public node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No spend ceiling, no latency or residency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Same reconcile loop as PolicyBurst with constraints switched off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reproduced: first numbers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Reference burst: 4× private capacity for 3 min, 3 repetitions, mean ± sd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08760"/>
                <a:gridCol w="1508760"/>
                <a:gridCol w="1600200"/>
                <a:gridCol w="141732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 attainment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 (ms)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/ failed req.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node-hours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 (₹, shadow)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Attainment per ₹100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— No bursting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— Threshold-only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149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28016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280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FILL FROM results/baseline_*.csv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3429000"/>
            <a:ext cx="6766560" cy="2697480"/>
          </a:xfrm>
          <a:prstGeom prst="roundRect">
            <a:avLst>
              <a:gd name="adj" fmla="val 2712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31520" y="356616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PLOT: latency over time, B0 vs B1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11480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675"/>
                </a:solidFill>
              </a:rPr>
              <a:t>Locust response-time plot across the burst window, with the 300 ms SLO 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89520" y="342900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What we expect to see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97764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B0: attainment collapses during the burst; zero spend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B1: attainment recovers, spend grows without bound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Neither respects residency — the gap PolicyBurst closes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to Review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Objectives O1 and O2 evidenced in code by 23/09/2026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6304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Policy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BurstPolicy CRD, data-class labels, destination catalogue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Feasibility filters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Residency + latency filters; RTT probes to each destination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21792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Cost accumulator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Shadow-priced metering, projected-spend gate, halt at ceiling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Wk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Experiments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3375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 matrix × 4 configs × 3 reps; first comparison graphs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0292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Repository: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github.com/&lt;team&gt;/p11-cloud-bursting — controller, baselines, Locust shapes, experiment runner and analysis notebooks, all version-controlled from day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[1] Stoica &amp; Shenker, HotOS 2021 — From Cloud Computing to Sky Computing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[2] Wiesner et al., Middleware 2021 — Let's Wait Awhile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[3] Ju, Singh &amp; Toor, UCC 2021 Companion — Proactive Autoscaling for Edge with Kubernetes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[4] Toka et al., IEEE TNSM 2021 — ML-based scaling management for Kubernetes edge clusters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[5] Phuc, Phan &amp; Kim, IEEE Access 2022 — Traffic-Aware HPA in Kubernetes Edge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[6] Xiao, Zhou, Yang &amp; He, FGCS 130, 2022 — Privacy-preserving workflow scheduling in geo-distributed DCs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[7] Iorio et al., IEEE TCC 2023 — Computing Without Borders (Liqo)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[8] Yang et al., NSDI 2023 — SkyPilot: An Intercloud Broker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[9] Yang, Xia, Ye, Gao &amp; Zhan, IEEE TCC 2023 — HPCP-PSO workflow scheduling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[10] TanGo, IEEE INFOCOM 2023 — Tenant task placement in geo-distributed clouds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[11] Tekawade &amp; Banerjee, COMSNETS 2023 — Reliability-aware multi-cloud task-graph scheduler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[12] Luo et al., USENIX ATC 2024 — Starburst: Cost-aware Scheduler for Hybrid Cloud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[13] Wu et al., NSDI 2024 — Can't Be Late: Spot Savings under Deadlines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[14] Abdi, Ashjaei &amp; Mubeen, FGCS 2024 — Deadline-constrained security-aware workflow scheduling in hybrid cloud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430"/>
                </a:solidFill>
              </a:rPr>
              <a:t>[15] Sukprasert et al., EuroSys 2024 — Carbon-aware temporal and spatial workload shifting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constraint-aware bursting gives ≥ 25% more SLO attainment per ₹, with zero ceiling or residency violations.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11 Cloud Bursting">
  <a:themeElements>
    <a:clrScheme name="P11 Cloud Bursting">
      <a:dk1>
        <a:srgbClr val="1B2430"/>
      </a:dk1>
      <a:lt1>
        <a:srgbClr val="FFFFFF"/>
      </a:lt1>
      <a:dk2>
        <a:srgbClr val="12263A"/>
      </a:dk2>
      <a:lt2>
        <a:srgbClr val="EEF3F6"/>
      </a:lt2>
      <a:accent1>
        <a:srgbClr val="2A9D8F"/>
      </a:accent1>
      <a:accent2>
        <a:srgbClr val="E9A23B"/>
      </a:accent2>
      <a:accent3>
        <a:srgbClr val="D1495B"/>
      </a:accent3>
      <a:accent4>
        <a:srgbClr val="4C6A92"/>
      </a:accent4>
      <a:accent5>
        <a:srgbClr val="8AB17D"/>
      </a:accent5>
      <a:accent6>
        <a:srgbClr val="6C757D"/>
      </a:accent6>
      <a:hlink>
        <a:srgbClr val="2A9D8F"/>
      </a:hlink>
      <a:folHlink>
        <a:srgbClr val="4C6A92"/>
      </a:folHlink>
    </a:clrScheme>
    <a:fontScheme name="P11 Cloud Burst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P11 Review 1 — Problem Formulation and Baseline</dc:title>
  <dc:subject>PptxGenJS Presentation</dc:subject>
  <dc:creator>Team P11</dc:creator>
  <cp:lastModifiedBy>Team P11</cp:lastModifiedBy>
  <cp:revision>1</cp:revision>
  <dcterms:created xsi:type="dcterms:W3CDTF">2026-10-25T18:48:24Z</dcterms:created>
  <dcterms:modified xsi:type="dcterms:W3CDTF">2026-10-25T18:48:24Z</dcterms:modified>
</cp:coreProperties>
</file>