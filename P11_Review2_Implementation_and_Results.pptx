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b9d8c09-d073-a9cc-99b4-c36f3ffe8834}">
          <p14:sldIdLst>
            <p14:sldId id="256"/>
            <p14:sldId id="257"/>
            <p14:sldId id="258"/>
          </p14:sldIdLst>
        </p14:section>
        <p14:section name="Implementation" id="{bf0b0279-03d3-d6e8-c1d2-3f7fb88572c8}">
          <p14:sldIdLst>
            <p14:sldId id="259"/>
            <p14:sldId id="260"/>
            <p14:sldId id="261"/>
            <p14:sldId id="262"/>
          </p14:sldIdLst>
        </p14:section>
        <p14:section name="Results" id="{879626c6-1e91-dd65-04bb-8a8bf1bc77f6}">
          <p14:sldIdLst>
            <p14:sldId id="263"/>
            <p14:sldId id="264"/>
            <p14:sldId id="265"/>
          </p14:sldIdLst>
        </p14:section>
        <p14:section name="Analysis" id="{bbea675e-20e2-fffc-6d3d-188149e93182}">
          <p14:sldIdLst>
            <p14:sldId id="266"/>
            <p14:sldId id="267"/>
            <p14:sldId id="268"/>
          </p14:sldIdLst>
        </p14:section>
        <p14:section name="Next steps" id="{6a3cf362-488b-3ddc-9953-bfca090f8238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+mn-lt"/>
              </a:rPr>
              <a:t>SLO attainment (%) vs burst magnitude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B0 No bursting</c:v>
                </c:pt>
              </c:strCache>
            </c:strRef>
          </c:tx>
          <c:spPr>
            <a:solidFill>
              <a:srgbClr val="5B6675"/>
            </a:solidFill>
            <a:ln w="31750" cap="flat">
              <a:solidFill>
                <a:srgbClr val="5B667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B6675"/>
              </a:solidFill>
              <a:ln w="9525" cap="flat">
                <a:solidFill>
                  <a:srgbClr val="5B66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2×</c:v>
                  </c:pt>
                  <c:pt idx="1">
                    <c:v>3×</c:v>
                  </c:pt>
                  <c:pt idx="2">
                    <c:v>4×</c:v>
                  </c:pt>
                  <c:pt idx="3">
                    <c:v>5×</c:v>
                  </c:pt>
                  <c:pt idx="4">
                    <c:v>6×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</c:v>
                </c:pt>
                <c:pt idx="1">
                  <c:v>82</c:v>
                </c:pt>
                <c:pt idx="2">
                  <c:v>68</c:v>
                </c:pt>
                <c:pt idx="3">
                  <c:v>55</c:v>
                </c:pt>
                <c:pt idx="4">
                  <c:v>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B1 Threshold-only</c:v>
                </c:pt>
              </c:strCache>
            </c:strRef>
          </c:tx>
          <c:spPr>
            <a:solidFill>
              <a:srgbClr val="E9A23B"/>
            </a:solidFill>
            <a:ln w="31750" cap="flat">
              <a:solidFill>
                <a:srgbClr val="E9A2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9A23B"/>
              </a:solidFill>
              <a:ln w="9525" cap="flat">
                <a:solidFill>
                  <a:srgbClr val="E9A2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2×</c:v>
                  </c:pt>
                  <c:pt idx="1">
                    <c:v>3×</c:v>
                  </c:pt>
                  <c:pt idx="2">
                    <c:v>4×</c:v>
                  </c:pt>
                  <c:pt idx="3">
                    <c:v>5×</c:v>
                  </c:pt>
                  <c:pt idx="4">
                    <c:v>6×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98</c:v>
                </c:pt>
                <c:pt idx="1">
                  <c:v>95</c:v>
                </c:pt>
                <c:pt idx="2">
                  <c:v>93</c:v>
                </c:pt>
                <c:pt idx="3">
                  <c:v>91</c:v>
                </c:pt>
                <c:pt idx="4">
                  <c:v>90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PB PolicyBurst</c:v>
                </c:pt>
              </c:strCache>
            </c:strRef>
          </c:tx>
          <c:spPr>
            <a:solidFill>
              <a:srgbClr val="2A9D8F"/>
            </a:solidFill>
            <a:ln w="317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2×</c:v>
                  </c:pt>
                  <c:pt idx="1">
                    <c:v>3×</c:v>
                  </c:pt>
                  <c:pt idx="2">
                    <c:v>4×</c:v>
                  </c:pt>
                  <c:pt idx="3">
                    <c:v>5×</c:v>
                  </c:pt>
                  <c:pt idx="4">
                    <c:v>6×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97</c:v>
                </c:pt>
                <c:pt idx="1">
                  <c:v>94</c:v>
                </c:pt>
                <c:pt idx="2">
                  <c:v>91</c:v>
                </c:pt>
                <c:pt idx="3">
                  <c:v>88</c:v>
                </c:pt>
                <c:pt idx="4">
                  <c:v>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75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675"/>
                    </a:solidFill>
                    <a:latin typeface="+mn-lt"/>
                  </a:rPr>
                  <a:t>Burst magnitude (× private capacity)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9525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+mn-lt"/>
              </a:rPr>
              <a:t>SLO attainment points per ₹100 (4× burst, 3 min)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Attainment per ₹100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9A2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B1 Threshold-only</c:v>
                  </c:pt>
                  <c:pt idx="1">
                    <c:v>PB PolicyBurst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</c:v>
                </c:pt>
                <c:pt idx="1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+mn-lt"/>
              </a:rPr>
              <a:t>Cumulative spend (₹, shadow-priced)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B1 Threshold-only</c:v>
                </c:pt>
              </c:strCache>
            </c:strRef>
          </c:tx>
          <c:spPr>
            <a:solidFill>
              <a:srgbClr val="E9A23B"/>
            </a:solidFill>
            <a:ln w="31750" cap="flat">
              <a:solidFill>
                <a:srgbClr val="E9A2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9A23B"/>
              </a:solidFill>
              <a:ln w="9525" cap="flat">
                <a:solidFill>
                  <a:srgbClr val="E9A2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8</c:v>
                </c:pt>
                <c:pt idx="2">
                  <c:v>20</c:v>
                </c:pt>
                <c:pt idx="3">
                  <c:v>35</c:v>
                </c:pt>
                <c:pt idx="4">
                  <c:v>48</c:v>
                </c:pt>
                <c:pt idx="5">
                  <c:v>60</c:v>
                </c:pt>
                <c:pt idx="6">
                  <c:v>75</c:v>
                </c:pt>
                <c:pt idx="7">
                  <c:v>92</c:v>
                </c:pt>
                <c:pt idx="8">
                  <c:v>105</c:v>
                </c:pt>
                <c:pt idx="9">
                  <c:v>120</c:v>
                </c:pt>
                <c:pt idx="10">
                  <c:v>138</c:v>
                </c:pt>
                <c:pt idx="11">
                  <c:v>150</c:v>
                </c:pt>
                <c:pt idx="12">
                  <c:v>165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PB PolicyBurst</c:v>
                </c:pt>
              </c:strCache>
            </c:strRef>
          </c:tx>
          <c:spPr>
            <a:solidFill>
              <a:srgbClr val="2A9D8F"/>
            </a:solidFill>
            <a:ln w="317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8</c:v>
                </c:pt>
                <c:pt idx="2">
                  <c:v>19</c:v>
                </c:pt>
                <c:pt idx="3">
                  <c:v>31</c:v>
                </c:pt>
                <c:pt idx="4">
                  <c:v>42</c:v>
                </c:pt>
                <c:pt idx="5">
                  <c:v>53</c:v>
                </c:pt>
                <c:pt idx="6">
                  <c:v>66</c:v>
                </c:pt>
                <c:pt idx="7">
                  <c:v>78</c:v>
                </c:pt>
                <c:pt idx="8">
                  <c:v>90</c:v>
                </c:pt>
                <c:pt idx="9">
                  <c:v>101</c:v>
                </c:pt>
                <c:pt idx="10">
                  <c:v>110</c:v>
                </c:pt>
                <c:pt idx="11">
                  <c:v>116</c:v>
                </c:pt>
                <c:pt idx="12">
                  <c:v>118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Ceiling (₹120)</c:v>
                </c:pt>
              </c:strCache>
            </c:strRef>
          </c:tx>
          <c:spPr>
            <a:solidFill>
              <a:srgbClr val="D1495B"/>
            </a:solidFill>
            <a:ln w="31750" cap="flat">
              <a:solidFill>
                <a:srgbClr val="D149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1495B"/>
              </a:solidFill>
              <a:ln w="9525" cap="flat">
                <a:solidFill>
                  <a:srgbClr val="D149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120</c:v>
                </c:pt>
                <c:pt idx="1">
                  <c:v>120</c:v>
                </c:pt>
                <c:pt idx="2">
                  <c:v>120</c:v>
                </c:pt>
                <c:pt idx="3">
                  <c:v>120</c:v>
                </c:pt>
                <c:pt idx="4">
                  <c:v>120</c:v>
                </c:pt>
                <c:pt idx="5">
                  <c:v>120</c:v>
                </c:pt>
                <c:pt idx="6">
                  <c:v>120</c:v>
                </c:pt>
                <c:pt idx="7">
                  <c:v>120</c:v>
                </c:pt>
                <c:pt idx="8">
                  <c:v>120</c:v>
                </c:pt>
                <c:pt idx="9">
                  <c:v>120</c:v>
                </c:pt>
                <c:pt idx="10">
                  <c:v>120</c:v>
                </c:pt>
                <c:pt idx="11">
                  <c:v>120</c:v>
                </c:pt>
                <c:pt idx="12">
                  <c:v>120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75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675"/>
                    </a:solidFill>
                    <a:latin typeface="+mn-lt"/>
                  </a:rPr>
                  <a:t>Minutes into run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+mn-lt"/>
              </a:rPr>
              <a:t>Attainment per ₹, normalised (4× burst, 3 min)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Attainment per ₹ (normalised to full PB)</c:v>
                </c:pt>
              </c:strCache>
            </c:strRef>
          </c:tx>
          <c:spPr>
            <a:solidFill>
              <a:srgbClr val="D1495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149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C6A9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9A2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− residency filter</c:v>
                  </c:pt>
                  <c:pt idx="1">
                    <c:v>− latency filter</c:v>
                  </c:pt>
                  <c:pt idx="2">
                    <c:v>− cost accumulator</c:v>
                  </c:pt>
                  <c:pt idx="3">
                    <c:v>Full PolicyBurst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1.06</c:v>
                </c:pt>
                <c:pt idx="1">
                  <c:v>0.84</c:v>
                </c:pt>
                <c:pt idx="2">
                  <c:v>0.78</c:v>
                </c:pt>
                <c:pt idx="3">
                  <c:v>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b"/>
        <c:majorGridlines>
          <c:spPr>
            <a:ln w="9525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+mn-lt"/>
              </a:rPr>
              <a:t>PB vs PB-noRes: attainment penalty (pp)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Attainment penalty (pp)</c:v>
                </c:pt>
              </c:strCache>
            </c:strRef>
          </c:tx>
          <c:spPr>
            <a:solidFill>
              <a:srgbClr val="2A9D8F"/>
            </a:solidFill>
            <a:ln w="317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0%</c:v>
                  </c:pt>
                  <c:pt idx="1">
                    <c:v>10%</c:v>
                  </c:pt>
                  <c:pt idx="2">
                    <c:v>30%</c:v>
                  </c:pt>
                  <c:pt idx="3">
                    <c:v>50%</c:v>
                  </c:pt>
                  <c:pt idx="4">
                    <c:v>70%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1.5</c:v>
                </c:pt>
                <c:pt idx="2">
                  <c:v>4</c:v>
                </c:pt>
                <c:pt idx="3">
                  <c:v>7.5</c:v>
                </c:pt>
                <c:pt idx="4">
                  <c:v>11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75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675"/>
                    </a:solidFill>
                    <a:latin typeface="+mn-lt"/>
                  </a:rPr>
                  <a:t>Share of restricted traffic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+mn-lt"/>
              </a:rPr>
              <a:t>Requests rejected, no permissible destination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Rejected: no permissible destination</c:v>
                </c:pt>
              </c:strCache>
            </c:strRef>
          </c:tx>
          <c:spPr>
            <a:solidFill>
              <a:srgbClr val="D1495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0%</c:v>
                  </c:pt>
                  <c:pt idx="1">
                    <c:v>10%</c:v>
                  </c:pt>
                  <c:pt idx="2">
                    <c:v>30%</c:v>
                  </c:pt>
                  <c:pt idx="3">
                    <c:v>50%</c:v>
                  </c:pt>
                  <c:pt idx="4">
                    <c:v>70%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0.4</c:v>
                </c:pt>
                <c:pt idx="2">
                  <c:v>1.8</c:v>
                </c:pt>
                <c:pt idx="3">
                  <c:v>4.1</c:v>
                </c:pt>
                <c:pt idx="4">
                  <c:v>7.6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75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675"/>
                    </a:solidFill>
                    <a:latin typeface="+mn-lt"/>
                  </a:rPr>
                  <a:t>Share of restricted traffic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values are placeholders showing the expected shape. Replace with the means from experiments/run_matrix.py output before presenting. B0 has zero spend so attainment per rupee is undefined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H3 is tested at the 30% point: penalty must be at most 10 pp. The sweep shows how the cost of compliance scales, which is the main publishable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P11 · Policy-Driven Cloud Bursting · Review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Policy-Driven Cloud Bursting Under Cost, Latency and Data-Residency Constraints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— Implementation and Preliminary Results  ·  23/09/2026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P11  ·  Cloud Computing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Ramanuj Agarwal  ·  23BCE1861   |   Guide: Indra Priyadarshini 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PVT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051560"/>
            <a:ext cx="822960" cy="914"/>
          </a:xfrm>
          <a:prstGeom prst="line">
            <a:avLst/>
          </a:prstGeom>
          <a:noFill/>
          <a:ln w="22225">
            <a:solidFill>
              <a:srgbClr val="CADCE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377440" y="73152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744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review covers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Each rubric component maps to a section of the deck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822960" cy="8229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O1 &amp; O2 evidenced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Working controller in a version-controlled repo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72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C6A92"/>
                </a:solidFill>
              </a:rPr>
              <a:t>Slides 4–7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2103120"/>
            <a:ext cx="822960" cy="8229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3m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Results vs baseline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Baseline and PolicyBurst on the same axes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4572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C6A92"/>
                </a:solidFill>
              </a:rPr>
              <a:t>Slides 9–10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2103120"/>
            <a:ext cx="822960" cy="8229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2m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Ablation &amp; sweep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Which component causes the gain; behaviour vs load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572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C6A92"/>
                </a:solidFill>
              </a:rPr>
              <a:t>Slides 11–12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26880" y="2103120"/>
            <a:ext cx="822960" cy="8229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2688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1m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Threats to validity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What our setup cannot prove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4572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C6A92"/>
                </a:solidFill>
              </a:rPr>
              <a:t>Slide 13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from Review 1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Hypotheses unchanged; the testbed and both baselines now run end to end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737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≥ 25% more SLO attainment per ₹ than threshold-only bursting under 2–6× bursts with a fixed ceiling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731520" cy="7315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788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Zero ceiling breaches and zero residency violations in every PolicyBurst run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731520" cy="731520"/>
          </a:xfrm>
          <a:prstGeom prst="ellipse">
            <a:avLst/>
          </a:prstGeom>
          <a:solidFill>
            <a:srgbClr val="4C6A92"/>
          </a:solidFill>
          <a:ln w="12700">
            <a:solidFill>
              <a:srgbClr val="4C6A9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8404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Residency enforcement (30% restricted traffic) costs ≤ 10 pp of SLO attainment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06640" y="1691640"/>
            <a:ext cx="4206240" cy="3063240"/>
          </a:xfrm>
          <a:prstGeom prst="roundRect">
            <a:avLst>
              <a:gd name="adj" fmla="val 2388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3524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Changed since Review 1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635240" y="224028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Policy moved from config file to a BurstPolicy CRD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Latency check uses live RTT probes, not static values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Cost gate projects spend before acquiring capacity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&lt;add any change your team made&gt;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DDF1EE"/>
          </a:solidFill>
          <a:ln w="9525">
            <a:solidFill>
              <a:srgbClr val="DDF1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120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Review 1 feedback addressed: </a:t>
            </a:r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&lt;list each comment from the panel and how it was handled&gt;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O1 — Constraints are inputs, not post-hoc filters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Every decision is made inside the feasible set defined by residency, latency and budget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74520"/>
            <a:ext cx="594360" cy="594360"/>
          </a:xfrm>
          <a:prstGeom prst="ellipse">
            <a:avLst/>
          </a:prstGeom>
          <a:solidFill>
            <a:srgbClr val="5B6675"/>
          </a:solidFill>
          <a:ln w="12700">
            <a:solidFill>
              <a:srgbClr val="5B66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</a:rPr>
              <a:t>Observe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Pending pods, CPU, queue depth, p95 latency (Prometheus)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78608" y="2898648"/>
            <a:ext cx="219456" cy="914"/>
          </a:xfrm>
          <a:prstGeom prst="line">
            <a:avLst/>
          </a:prstGeom>
          <a:noFill/>
          <a:ln w="22225">
            <a:solidFill>
              <a:srgbClr val="12263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16352" y="173736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99232" y="187452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99232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99232" y="2560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</a:rPr>
              <a:t>Residency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999232" y="29718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data-class label → permitted regions (hard)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2898648"/>
            <a:ext cx="219456" cy="914"/>
          </a:xfrm>
          <a:prstGeom prst="line">
            <a:avLst/>
          </a:prstGeom>
          <a:noFill/>
          <a:ln w="22225">
            <a:solidFill>
              <a:srgbClr val="12263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84064" y="173736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66944" y="1874520"/>
            <a:ext cx="594360" cy="594360"/>
          </a:xfrm>
          <a:prstGeom prst="ellipse">
            <a:avLst/>
          </a:prstGeom>
          <a:solidFill>
            <a:srgbClr val="4C6A92"/>
          </a:solidFill>
          <a:ln w="12700">
            <a:solidFill>
              <a:srgbClr val="4C6A9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66944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66944" y="2560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</a:rPr>
              <a:t>Latency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266944" y="29718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probe RTT + service time ≤ SLO budget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14032" y="2898648"/>
            <a:ext cx="219456" cy="914"/>
          </a:xfrm>
          <a:prstGeom prst="line">
            <a:avLst/>
          </a:prstGeom>
          <a:noFill/>
          <a:ln w="22225">
            <a:solidFill>
              <a:srgbClr val="12263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51776" y="173736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34656" y="1874520"/>
            <a:ext cx="594360" cy="5943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34656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534656" y="2560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</a:rPr>
              <a:t>Budget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534656" y="29718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spent + projected ≤ ceiling − reserve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381744" y="2898648"/>
            <a:ext cx="219456" cy="914"/>
          </a:xfrm>
          <a:prstGeom prst="line">
            <a:avLst/>
          </a:prstGeom>
          <a:noFill/>
          <a:ln w="22225">
            <a:solidFill>
              <a:srgbClr val="12263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19488" y="173736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802368" y="1874520"/>
            <a:ext cx="594360" cy="59436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02368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802368" y="2560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</a:rPr>
              <a:t>Act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802368" y="29718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cheapest feasible destination; else queue / reject with reason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434340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8DDE1"/>
          </a:solidFill>
          <a:ln w="9525">
            <a:solidFill>
              <a:srgbClr val="F8DD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44805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1495B"/>
                </a:solidFill>
              </a:rPr>
              <a:t>Baseline (post-hoc)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decide to burst → then check rules → discard or violate. Budget and residency are found to be broken after capacity is bought.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17920" y="434340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DDF1EE"/>
          </a:solidFill>
          <a:ln w="9525">
            <a:solidFill>
              <a:srgbClr val="DDF1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46520" y="44805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</a:rPr>
              <a:t>PolicyBurst (constraint-first)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build the feasible destination set first → choose within it. If the set is empty the request is rejected and logged with a reason code (O4 metric).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as a Kubernetes object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Administrators change rules with kubectl apply — no controller rebuild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434840"/>
          </a:xfrm>
          <a:prstGeom prst="roundRect">
            <a:avLst>
              <a:gd name="adj" fmla="val 1649"/>
            </a:avLst>
          </a:prstGeom>
          <a:solidFill>
            <a:srgbClr val="0F1B2A"/>
          </a:solidFill>
          <a:ln w="9525">
            <a:solidFill>
              <a:srgbClr val="0F1B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6692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p11.burst/v1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BurstPolicy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 { name: campus-default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monthlyCeilingINR: 2000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reserveINR: 100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sloLatencyMs: 300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destinations: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{name: private, region: IN, ratePerHourINR: 0}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{name: pub-in, region: IN, ratePerHourINR: 1.8}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{name: pub-far, region: non-IN, ratePerHourINR: 1.2}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residency: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restricted: [IN]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internal:   [IN, non-IN]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public:     [IN, non-IN]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94944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</a:rPr>
              <a:t>Workload labels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194560"/>
          <a:ext cx="46634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828800"/>
                <a:gridCol w="1417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p11.burst/data-class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run 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records, Aadhaar-linked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private, pub-in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Timetable, LMS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site, open datasets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949440" y="43434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675"/>
                </a:solidFill>
              </a:rPr>
              <a:t>Rates are shadow prices (provider's published on-demand rate for the instance type), because free-tier usage costs ₹0 in reality.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949440" y="5349240"/>
            <a:ext cx="3840480" cy="292608"/>
          </a:xfrm>
          <a:prstGeom prst="roundRect">
            <a:avLst>
              <a:gd name="adj" fmla="val 25000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49440" y="5349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REPLACE RATES WITH YOUR PROVIDER'S PRICES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O2 — Implementation in a version-controlled repo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Python controller on the official Kubernetes client, running in-cluster on k3s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4434840"/>
          </a:xfrm>
          <a:prstGeom prst="roundRect">
            <a:avLst>
              <a:gd name="adj" fmla="val 1649"/>
            </a:avLst>
          </a:prstGeom>
          <a:solidFill>
            <a:srgbClr val="0F1B2A"/>
          </a:solidFill>
          <a:ln w="9525">
            <a:solidFill>
              <a:srgbClr val="0F1B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9436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p11-cloud-bursting/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controller/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main.py          # 15 s reconcile loop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policy.py        # BurstPolicy CRD watcher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feasibility.py   # residency + latency filters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cost.py          # cost accumulator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actuator.py      # uncordon/drain, node affinity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baselines/threshold.py   # B1 (constraints off)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deploy/              # CRD, RBAC, sample app, Prometheus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load/locustfile.py   # burst LoadTestShape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experiments/run_matrix.py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analysis/plots.ipynb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0" y="1691640"/>
            <a:ext cx="4480560" cy="2377440"/>
          </a:xfrm>
          <a:prstGeom prst="roundRect">
            <a:avLst>
              <a:gd name="adj" fmla="val 3077"/>
            </a:avLst>
          </a:prstGeom>
          <a:solidFill>
            <a:srgbClr val="EEF3F6"/>
          </a:solidFill>
          <a:ln w="9525">
            <a:solidFill>
              <a:srgbClr val="C9D3D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315200" y="1828800"/>
            <a:ext cx="3291840" cy="292608"/>
          </a:xfrm>
          <a:prstGeom prst="roundRect">
            <a:avLst>
              <a:gd name="adj" fmla="val 25000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0" y="18288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INSERT SCREENSHOT: COMMIT HISTORY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28600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675"/>
                </a:solidFill>
              </a:rPr>
              <a:t>git log --oneline --graph, or the GitHub commits page, showing work spread over the weeks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0" y="4297680"/>
            <a:ext cx="4480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0" y="443484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Repo: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github.com/&lt;team&gt;/p11-cloud-bursting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Live demo: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kubectl apply a policy, start a burst, watch pods land on pub-in only for restricted traffic.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accumulator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Projects spend before buying capacity, so the ceiling is never crossed — it is approached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49440" cy="3108960"/>
          </a:xfrm>
          <a:prstGeom prst="roundRect">
            <a:avLst>
              <a:gd name="adj" fmla="val 2353"/>
            </a:avLst>
          </a:prstGeom>
          <a:solidFill>
            <a:srgbClr val="0F1B2A"/>
          </a:solidFill>
          <a:ln w="9525">
            <a:solidFill>
              <a:srgbClr val="0F1B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6583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can_acquire(dest, lease_h):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spent = meter.total_inr()        # node-hours × rate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burn  = meter.current_rate_inr_h()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  = hours_left_in_month()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projected = spent + (burn + dest.rate) * min(lease_h, left)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projected &lt;= policy.ceiling - policy.reserve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 ceiling: stop new bursts, let leases expire,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fall back to private capacity or reject with reason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63840" y="169164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0" y="1691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A23B"/>
                </a:solidFill>
              </a:rPr>
              <a:t>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941832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ceiling breaches allowed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2770632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27706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</a:rPr>
              <a:t>15 s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9418320" y="2770632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metering interval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9624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3849624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6A92"/>
                </a:solidFill>
              </a:rPr>
              <a:t>₹100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418320" y="3849624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reserve below ceiling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DDF1EE"/>
          </a:solidFill>
          <a:ln w="9525">
            <a:solidFill>
              <a:srgbClr val="DDF1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120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Why projected, not current: </a:t>
            </a:r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a node acquired at ₹ ceiling − 1 still bills for its whole lease. Checking only current spend lets the baseline overshoot by one lease per node.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Same app, same load shapes, same metrics — only the controller changes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A9D8F"/>
                </a:solidFill>
              </a:rPr>
              <a:t>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configurations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17373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A9D8F"/>
                </a:solidFill>
              </a:rPr>
              <a:t>9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burst shapes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7373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A9D8F"/>
                </a:solidFill>
              </a:rPr>
              <a:t>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repetitions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81160" y="17373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108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E8"/>
                </a:solidFill>
              </a:rPr>
              <a:t>runs in total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097280"/>
                <a:gridCol w="137160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filter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 No bursting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 Threshold-only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 PolicyBurst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PB-noRes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863840" y="3337560"/>
            <a:ext cx="3749040" cy="2788920"/>
          </a:xfrm>
          <a:prstGeom prst="roundRect">
            <a:avLst>
              <a:gd name="adj" fmla="val 2623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9244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Burst shapes (Locust)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092440" y="3886200"/>
            <a:ext cx="3291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Magnitude: 2×, 4×, 6× private capacity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Duration: 1, 3, 5 minutes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Base load 20 users; 30% of requests tagged restricted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Ceiling scaled to the run length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attainment and attainment per ₹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Threshold-only buys attainment at any price; PolicyBurst trades a little attainment for a bounded bill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54864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783080"/>
          <a:ext cx="53035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1481328"/>
            <a:ext cx="3840480" cy="292608"/>
          </a:xfrm>
          <a:prstGeom prst="roundRect">
            <a:avLst>
              <a:gd name="adj" fmla="val 25000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ILLUSTRATIVE VALUES — REPLACE WITH MEASURED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the ceiling holds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Cumulative spend over a 60-minute run with repeated bursts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749808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481328"/>
            <a:ext cx="3840480" cy="292608"/>
          </a:xfrm>
          <a:prstGeom prst="roundRect">
            <a:avLst>
              <a:gd name="adj" fmla="val 25000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ILLUSTRATIVE VALUES — REPLACE WITH MEASURED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412480" y="19202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189720" y="18745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crosses the ceiling at ~45 min and keeps spending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412480" y="338328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PB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89720" y="33375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flattens below the ceiling minus reserve; later bursts fall back to private or are rejected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412480" y="48463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F8DDE1"/>
          </a:solidFill>
          <a:ln w="9525">
            <a:solidFill>
              <a:srgbClr val="F8DDE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95360" y="49377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495B"/>
                </a:solidFill>
              </a:rPr>
              <a:t>H2 check: count of runs where spend &gt; ceiling, per config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Ablation: which component causes the gain?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Remove one constraint at a time; measure attainment per ₹ and violations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7665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481328"/>
            <a:ext cx="3840480" cy="292608"/>
          </a:xfrm>
          <a:prstGeom prst="roundRect">
            <a:avLst>
              <a:gd name="adj" fmla="val 25000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ILLUSTRATIVE VALUES — REPLACE WITH MEASURED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589520" y="178308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A23B"/>
                </a:solidFill>
              </a:rPr>
              <a:t>− cost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194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Spend runs past the ceiling; attainment per ₹ falls because the last bursts are the most expensive per extra request.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589520" y="32461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C6A92"/>
                </a:solidFill>
              </a:rPr>
              <a:t>− latency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Work sent to pub-far misses the 300 ms SLO: money spent, attainment not gained.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589520" y="47091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0" y="4800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1495B"/>
                </a:solidFill>
              </a:rPr>
              <a:t>− residency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5120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Slightly better per ₹ — but restricted requests leave India. This is the price of compliance (O4).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sweep: what residency costs (O4)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Attainment penalty grows with the share of traffic that must stay in India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566928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00800" y="1783080"/>
          <a:ext cx="521208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1481328"/>
            <a:ext cx="3840480" cy="292608"/>
          </a:xfrm>
          <a:prstGeom prst="roundRect">
            <a:avLst>
              <a:gd name="adj" fmla="val 25000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ILLUSTRATIVE VALUES — REPLACE WITH MEASURED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 to validity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What our setup cannot prove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928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Scale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One or two free-tier VMs and a few private VMs; results may not hold for hundreds of nodes or real autoscaling delays.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74520"/>
            <a:ext cx="502920" cy="50292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8928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Cost is modelled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5146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Free tier bills ₹0, so spend is shadow-priced. Real bills add egress, storage and per-second rounding.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874520"/>
            <a:ext cx="502920" cy="50292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18928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Emulated far region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5146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pub-far is a netem delay plus a label, not a real foreign region; real WAN jitter and loss are absent.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1330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Synthetic load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7548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Locust shapes are not a production trace; bursts are cleaner and more predictable than real demand.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393192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4114800"/>
            <a:ext cx="502920" cy="50292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41330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Residency ≠ legal compliance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47548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We enforce placement by label. Backups, logs and the control plane itself may still cross borders.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46720" y="393192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4114800"/>
            <a:ext cx="502920" cy="50292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41330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Single app, short runs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7548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One 3-service app and 60-min runs; monthly-ceiling behaviour is compressed by scaling the budget.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to the final review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Turn preliminary numbers into the full O3 and O4 evaluation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22960" cy="8229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63040" y="2240280"/>
            <a:ext cx="1828800" cy="914"/>
          </a:xfrm>
          <a:prstGeom prst="line">
            <a:avLst/>
          </a:prstGeom>
          <a:noFill/>
          <a:ln w="22225">
            <a:solidFill>
              <a:srgbClr val="C9D3DC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4864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Full matrix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375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All 108 runs with mean ± 95% CI on every bar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822960" cy="8229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97680" y="2240280"/>
            <a:ext cx="1828800" cy="914"/>
          </a:xfrm>
          <a:prstGeom prst="line">
            <a:avLst/>
          </a:prstGeom>
          <a:noFill/>
          <a:ln w="22225">
            <a:solidFill>
              <a:srgbClr val="C9D3DC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38328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O3 curve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3375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Attainment per ₹ vs burst intensity for B1, PB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822960" cy="8229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132320" y="2240280"/>
            <a:ext cx="1828800" cy="914"/>
          </a:xfrm>
          <a:prstGeom prst="line">
            <a:avLst/>
          </a:prstGeom>
          <a:noFill/>
          <a:ln w="22225">
            <a:solidFill>
              <a:srgbClr val="C9D3DC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621792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O4 result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3375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Residency penalty and rejections, sweep 0–70%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52560" y="1828800"/>
            <a:ext cx="822960" cy="8229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5256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Write-up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33375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Paper draft: DPDP-aware bursting, artefact on GitHub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9377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Stretch goal: </a:t>
            </a:r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replace the emulated far region with a real second public region for a short paid run, to check the latency filter against real WAN behaviour.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PolicyBurst: residency, latency and budget decide where work may go — before the controller decides where it should go.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11 Cloud Bursting">
  <a:themeElements>
    <a:clrScheme name="P11 Cloud Bursting">
      <a:dk1>
        <a:srgbClr val="1B2430"/>
      </a:dk1>
      <a:lt1>
        <a:srgbClr val="FFFFFF"/>
      </a:lt1>
      <a:dk2>
        <a:srgbClr val="12263A"/>
      </a:dk2>
      <a:lt2>
        <a:srgbClr val="EEF3F6"/>
      </a:lt2>
      <a:accent1>
        <a:srgbClr val="2A9D8F"/>
      </a:accent1>
      <a:accent2>
        <a:srgbClr val="E9A23B"/>
      </a:accent2>
      <a:accent3>
        <a:srgbClr val="D1495B"/>
      </a:accent3>
      <a:accent4>
        <a:srgbClr val="4C6A92"/>
      </a:accent4>
      <a:accent5>
        <a:srgbClr val="8AB17D"/>
      </a:accent5>
      <a:accent6>
        <a:srgbClr val="6C757D"/>
      </a:accent6>
      <a:hlink>
        <a:srgbClr val="2A9D8F"/>
      </a:hlink>
      <a:folHlink>
        <a:srgbClr val="4C6A92"/>
      </a:folHlink>
    </a:clrScheme>
    <a:fontScheme name="P11 Cloud Burst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P11 Review 2 — Implementation and Preliminary Results</dc:title>
  <dc:subject>PptxGenJS Presentation</dc:subject>
  <dc:creator>Team P11</dc:creator>
  <cp:lastModifiedBy>Team P11</cp:lastModifiedBy>
  <cp:revision>1</cp:revision>
  <dcterms:created xsi:type="dcterms:W3CDTF">2026-10-25T18:48:24Z</dcterms:created>
  <dcterms:modified xsi:type="dcterms:W3CDTF">2026-10-25T18:48:24Z</dcterms:modified>
</cp:coreProperties>
</file>