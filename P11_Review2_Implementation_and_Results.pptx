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0a33e15-a1b0-0da6-9cd9-24e6d18f7b04}">
          <p14:sldIdLst>
            <p14:sldId id="256"/>
            <p14:sldId id="257"/>
            <p14:sldId id="258"/>
          </p14:sldIdLst>
        </p14:section>
        <p14:section name="Implementation" id="{8998f570-dcc1-0968-0ed4-2ba135aaaac4}">
          <p14:sldIdLst>
            <p14:sldId id="259"/>
            <p14:sldId id="260"/>
            <p14:sldId id="261"/>
            <p14:sldId id="262"/>
          </p14:sldIdLst>
        </p14:section>
        <p14:section name="Results" id="{0bdc2825-3e09-2a63-cfb4-5e5927ed17a9}">
          <p14:sldIdLst>
            <p14:sldId id="263"/>
            <p14:sldId id="264"/>
            <p14:sldId id="265"/>
            <p14:sldId id="266"/>
          </p14:sldIdLst>
        </p14:section>
        <p14:section name="Analysis" id="{52f5af03-0dde-70e9-4b5e-5d56442f7b25}">
          <p14:sldIdLst>
            <p14:sldId id="267"/>
            <p14:sldId id="268"/>
            <p14:sldId id="269"/>
            <p14:sldId id="270"/>
          </p14:sldIdLst>
        </p14:section>
        <p14:section name="Next steps" id="{3f308ae0-1e85-c25f-eb8a-c244c942a9c5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SLO attainment (%) vs burst size (180 s bursts)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B0 No bursting</c:v>
                </c:pt>
              </c:strCache>
            </c:strRef>
          </c:tx>
          <c:spPr>
            <a:solidFill>
              <a:srgbClr val="5B6675"/>
            </a:solidFill>
            <a:ln w="31750" cap="flat">
              <a:solidFill>
                <a:srgbClr val="5B667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B6675"/>
              </a:solidFill>
              <a:ln w="9525" cap="flat">
                <a:solidFill>
                  <a:srgbClr val="5B667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1.5×</c:v>
                  </c:pt>
                  <c:pt idx="1">
                    <c:v>2×</c:v>
                  </c:pt>
                  <c:pt idx="2">
                    <c:v>2.5×</c:v>
                  </c:pt>
                  <c:pt idx="3">
                    <c:v>3×</c:v>
                  </c:pt>
                  <c:pt idx="4">
                    <c:v>4×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45.593</c:v>
                </c:pt>
                <c:pt idx="1">
                  <c:v>34.71</c:v>
                </c:pt>
                <c:pt idx="2">
                  <c:v>28.213</c:v>
                </c:pt>
                <c:pt idx="3">
                  <c:v>19.337</c:v>
                </c:pt>
                <c:pt idx="4">
                  <c:v>16.833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B1 Threshold-only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1.5×</c:v>
                  </c:pt>
                  <c:pt idx="1">
                    <c:v>2×</c:v>
                  </c:pt>
                  <c:pt idx="2">
                    <c:v>2.5×</c:v>
                  </c:pt>
                  <c:pt idx="3">
                    <c:v>3×</c:v>
                  </c:pt>
                  <c:pt idx="4">
                    <c:v>4×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75.457</c:v>
                </c:pt>
                <c:pt idx="1">
                  <c:v>66.69</c:v>
                </c:pt>
                <c:pt idx="2">
                  <c:v>54.91</c:v>
                </c:pt>
                <c:pt idx="3">
                  <c:v>36.003</c:v>
                </c:pt>
                <c:pt idx="4">
                  <c:v>30.13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PB PolicyBurst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1.5×</c:v>
                  </c:pt>
                  <c:pt idx="1">
                    <c:v>2×</c:v>
                  </c:pt>
                  <c:pt idx="2">
                    <c:v>2.5×</c:v>
                  </c:pt>
                  <c:pt idx="3">
                    <c:v>3×</c:v>
                  </c:pt>
                  <c:pt idx="4">
                    <c:v>4×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86.593</c:v>
                </c:pt>
                <c:pt idx="1">
                  <c:v>76.187</c:v>
                </c:pt>
                <c:pt idx="2">
                  <c:v>43.187</c:v>
                </c:pt>
                <c:pt idx="3">
                  <c:v>35.23</c:v>
                </c:pt>
                <c:pt idx="4">
                  <c:v>29.59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Burst size (× private capacity)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Attainment points per ₹100 spent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B1 Threshold-only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1.5×</c:v>
                  </c:pt>
                  <c:pt idx="1">
                    <c:v>2×</c:v>
                  </c:pt>
                  <c:pt idx="2">
                    <c:v>2.5×</c:v>
                  </c:pt>
                  <c:pt idx="3">
                    <c:v>3×</c:v>
                  </c:pt>
                  <c:pt idx="4">
                    <c:v>4×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232</c:v>
                </c:pt>
                <c:pt idx="1">
                  <c:v>205</c:v>
                </c:pt>
                <c:pt idx="2">
                  <c:v>174</c:v>
                </c:pt>
                <c:pt idx="3">
                  <c:v>110</c:v>
                </c:pt>
                <c:pt idx="4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 PolicyBurst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1.5×</c:v>
                  </c:pt>
                  <c:pt idx="1">
                    <c:v>2×</c:v>
                  </c:pt>
                  <c:pt idx="2">
                    <c:v>2.5×</c:v>
                  </c:pt>
                  <c:pt idx="3">
                    <c:v>3×</c:v>
                  </c:pt>
                  <c:pt idx="4">
                    <c:v>4×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325</c:v>
                </c:pt>
                <c:pt idx="1">
                  <c:v>251</c:v>
                </c:pt>
                <c:pt idx="2">
                  <c:v>151</c:v>
                </c:pt>
                <c:pt idx="3">
                  <c:v>119</c:v>
                </c:pt>
                <c:pt idx="4">
                  <c:v>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Burst size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Cumulative spend (₹, shadow-priced)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B1 Threshold-only</c:v>
                </c:pt>
              </c:strCache>
            </c:strRef>
          </c:tx>
          <c:spPr>
            <a:solidFill>
              <a:srgbClr val="E9A23B"/>
            </a:solidFill>
            <a:ln w="31750" cap="flat">
              <a:solidFill>
                <a:srgbClr val="E9A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9A23B"/>
              </a:solidFill>
              <a:ln w="9525" cap="flat">
                <a:solidFill>
                  <a:srgbClr val="E9A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0.4167</c:v>
                </c:pt>
                <c:pt idx="4">
                  <c:v>4.5833</c:v>
                </c:pt>
                <c:pt idx="5">
                  <c:v>11.5833</c:v>
                </c:pt>
                <c:pt idx="6">
                  <c:v>18.5833</c:v>
                </c:pt>
                <c:pt idx="7">
                  <c:v>25.5833</c:v>
                </c:pt>
                <c:pt idx="8">
                  <c:v>32.5833</c:v>
                </c:pt>
                <c:pt idx="9">
                  <c:v>39.5833</c:v>
                </c:pt>
                <c:pt idx="10">
                  <c:v>46.5833</c:v>
                </c:pt>
                <c:pt idx="11">
                  <c:v>53.5833</c:v>
                </c:pt>
                <c:pt idx="12">
                  <c:v>60.5833</c:v>
                </c:pt>
                <c:pt idx="13">
                  <c:v>67.5833</c:v>
                </c:pt>
                <c:pt idx="14">
                  <c:v>74.5833</c:v>
                </c:pt>
                <c:pt idx="15">
                  <c:v>81.5833</c:v>
                </c:pt>
                <c:pt idx="16">
                  <c:v>88.5833</c:v>
                </c:pt>
                <c:pt idx="17">
                  <c:v>95.5833</c:v>
                </c:pt>
                <c:pt idx="18">
                  <c:v>102.5833</c:v>
                </c:pt>
                <c:pt idx="19">
                  <c:v>109.5833</c:v>
                </c:pt>
                <c:pt idx="20">
                  <c:v>116.5833</c:v>
                </c:pt>
                <c:pt idx="21">
                  <c:v>123.5833</c:v>
                </c:pt>
                <c:pt idx="22">
                  <c:v>130.5833</c:v>
                </c:pt>
                <c:pt idx="23">
                  <c:v>137.5833</c:v>
                </c:pt>
                <c:pt idx="24">
                  <c:v>144.5833</c:v>
                </c:pt>
                <c:pt idx="25">
                  <c:v>151.5833</c:v>
                </c:pt>
                <c:pt idx="26">
                  <c:v>158.5833</c:v>
                </c:pt>
                <c:pt idx="27">
                  <c:v>165.5833</c:v>
                </c:pt>
                <c:pt idx="28">
                  <c:v>172.5833</c:v>
                </c:pt>
                <c:pt idx="29">
                  <c:v>179.5833</c:v>
                </c:pt>
                <c:pt idx="30">
                  <c:v>186.5833</c:v>
                </c:pt>
                <c:pt idx="31">
                  <c:v>193.5833</c:v>
                </c:pt>
                <c:pt idx="32">
                  <c:v>200.5833</c:v>
                </c:pt>
                <c:pt idx="33">
                  <c:v>207.5833</c:v>
                </c:pt>
                <c:pt idx="34">
                  <c:v>214.5833</c:v>
                </c:pt>
                <c:pt idx="35">
                  <c:v>221.5833</c:v>
                </c:pt>
                <c:pt idx="36">
                  <c:v>228.5833</c:v>
                </c:pt>
                <c:pt idx="37">
                  <c:v>235.5833</c:v>
                </c:pt>
                <c:pt idx="38">
                  <c:v>242.5833</c:v>
                </c:pt>
                <c:pt idx="39">
                  <c:v>249.5833</c:v>
                </c:pt>
                <c:pt idx="40">
                  <c:v>256.5833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 PolicyBurst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0.75</c:v>
                </c:pt>
                <c:pt idx="4">
                  <c:v>5.5</c:v>
                </c:pt>
                <c:pt idx="5">
                  <c:v>10.8333</c:v>
                </c:pt>
                <c:pt idx="6">
                  <c:v>16.1667</c:v>
                </c:pt>
                <c:pt idx="7">
                  <c:v>21.5</c:v>
                </c:pt>
                <c:pt idx="8">
                  <c:v>26.8333</c:v>
                </c:pt>
                <c:pt idx="9">
                  <c:v>32.1667</c:v>
                </c:pt>
                <c:pt idx="10">
                  <c:v>39.1667</c:v>
                </c:pt>
                <c:pt idx="11">
                  <c:v>46.1667</c:v>
                </c:pt>
                <c:pt idx="12">
                  <c:v>53.1667</c:v>
                </c:pt>
                <c:pt idx="13">
                  <c:v>60.1667</c:v>
                </c:pt>
                <c:pt idx="14">
                  <c:v>67.1667</c:v>
                </c:pt>
                <c:pt idx="15">
                  <c:v>74.1667</c:v>
                </c:pt>
                <c:pt idx="16">
                  <c:v>81.1667</c:v>
                </c:pt>
                <c:pt idx="17">
                  <c:v>88.1667</c:v>
                </c:pt>
                <c:pt idx="18">
                  <c:v>95.1667</c:v>
                </c:pt>
                <c:pt idx="19">
                  <c:v>102.1667</c:v>
                </c:pt>
                <c:pt idx="20">
                  <c:v>109.1667</c:v>
                </c:pt>
                <c:pt idx="21">
                  <c:v>109.1667</c:v>
                </c:pt>
                <c:pt idx="22">
                  <c:v>109.1667</c:v>
                </c:pt>
                <c:pt idx="23">
                  <c:v>109.1667</c:v>
                </c:pt>
                <c:pt idx="24">
                  <c:v>109.1667</c:v>
                </c:pt>
                <c:pt idx="25">
                  <c:v>109.1667</c:v>
                </c:pt>
                <c:pt idx="26">
                  <c:v>109.1667</c:v>
                </c:pt>
                <c:pt idx="27">
                  <c:v>109.1667</c:v>
                </c:pt>
                <c:pt idx="28">
                  <c:v>109.1667</c:v>
                </c:pt>
                <c:pt idx="29">
                  <c:v>109.1667</c:v>
                </c:pt>
                <c:pt idx="30">
                  <c:v>109.1667</c:v>
                </c:pt>
                <c:pt idx="31">
                  <c:v>109.1667</c:v>
                </c:pt>
                <c:pt idx="32">
                  <c:v>109.1667</c:v>
                </c:pt>
                <c:pt idx="33">
                  <c:v>109.1667</c:v>
                </c:pt>
                <c:pt idx="34">
                  <c:v>109.1667</c:v>
                </c:pt>
                <c:pt idx="35">
                  <c:v>109.1667</c:v>
                </c:pt>
                <c:pt idx="36">
                  <c:v>109.1667</c:v>
                </c:pt>
                <c:pt idx="37">
                  <c:v>109.1667</c:v>
                </c:pt>
                <c:pt idx="38">
                  <c:v>109.1667</c:v>
                </c:pt>
                <c:pt idx="39">
                  <c:v>109.1667</c:v>
                </c:pt>
                <c:pt idx="40">
                  <c:v>109.1667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Ceiling (₹120)</c:v>
                </c:pt>
              </c:strCache>
            </c:strRef>
          </c:tx>
          <c:spPr>
            <a:solidFill>
              <a:srgbClr val="D1495B"/>
            </a:solidFill>
            <a:ln w="31750" cap="flat">
              <a:solidFill>
                <a:srgbClr val="D149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1495B"/>
              </a:solidFill>
              <a:ln w="9525" cap="flat">
                <a:solidFill>
                  <a:srgbClr val="D149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120</c:v>
                </c:pt>
                <c:pt idx="1">
                  <c:v>120</c:v>
                </c:pt>
                <c:pt idx="2">
                  <c:v>120</c:v>
                </c:pt>
                <c:pt idx="3">
                  <c:v>120</c:v>
                </c:pt>
                <c:pt idx="4">
                  <c:v>120</c:v>
                </c:pt>
                <c:pt idx="5">
                  <c:v>120</c:v>
                </c:pt>
                <c:pt idx="6">
                  <c:v>120</c:v>
                </c:pt>
                <c:pt idx="7">
                  <c:v>120</c:v>
                </c:pt>
                <c:pt idx="8">
                  <c:v>120</c:v>
                </c:pt>
                <c:pt idx="9">
                  <c:v>120</c:v>
                </c:pt>
                <c:pt idx="10">
                  <c:v>120</c:v>
                </c:pt>
                <c:pt idx="11">
                  <c:v>120</c:v>
                </c:pt>
                <c:pt idx="12">
                  <c:v>120</c:v>
                </c:pt>
                <c:pt idx="13">
                  <c:v>120</c:v>
                </c:pt>
                <c:pt idx="14">
                  <c:v>120</c:v>
                </c:pt>
                <c:pt idx="15">
                  <c:v>120</c:v>
                </c:pt>
                <c:pt idx="16">
                  <c:v>120</c:v>
                </c:pt>
                <c:pt idx="17">
                  <c:v>120</c:v>
                </c:pt>
                <c:pt idx="18">
                  <c:v>120</c:v>
                </c:pt>
                <c:pt idx="19">
                  <c:v>120</c:v>
                </c:pt>
                <c:pt idx="20">
                  <c:v>120</c:v>
                </c:pt>
                <c:pt idx="21">
                  <c:v>120</c:v>
                </c:pt>
                <c:pt idx="22">
                  <c:v>120</c:v>
                </c:pt>
                <c:pt idx="23">
                  <c:v>120</c:v>
                </c:pt>
                <c:pt idx="24">
                  <c:v>120</c:v>
                </c:pt>
                <c:pt idx="25">
                  <c:v>120</c:v>
                </c:pt>
                <c:pt idx="26">
                  <c:v>120</c:v>
                </c:pt>
                <c:pt idx="27">
                  <c:v>120</c:v>
                </c:pt>
                <c:pt idx="28">
                  <c:v>120</c:v>
                </c:pt>
                <c:pt idx="29">
                  <c:v>120</c:v>
                </c:pt>
                <c:pt idx="30">
                  <c:v>120</c:v>
                </c:pt>
                <c:pt idx="31">
                  <c:v>120</c:v>
                </c:pt>
                <c:pt idx="32">
                  <c:v>120</c:v>
                </c:pt>
                <c:pt idx="33">
                  <c:v>120</c:v>
                </c:pt>
                <c:pt idx="34">
                  <c:v>120</c:v>
                </c:pt>
                <c:pt idx="35">
                  <c:v>120</c:v>
                </c:pt>
                <c:pt idx="36">
                  <c:v>120</c:v>
                </c:pt>
                <c:pt idx="37">
                  <c:v>120</c:v>
                </c:pt>
                <c:pt idx="38">
                  <c:v>120</c:v>
                </c:pt>
                <c:pt idx="39">
                  <c:v>120</c:v>
                </c:pt>
                <c:pt idx="40">
                  <c:v>120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Minutes into run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SLO attainment (%) at 2× / 180 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Testbed (measured)</c:v>
                </c:pt>
              </c:strCache>
            </c:strRef>
          </c:tx>
          <c:spPr>
            <a:solidFill>
              <a:srgbClr val="1226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B0 No bursting</c:v>
                  </c:pt>
                  <c:pt idx="1">
                    <c:v>B1 Threshold</c:v>
                  </c:pt>
                  <c:pt idx="2">
                    <c:v>PB PolicyBurst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66.7</c:v>
                </c:pt>
                <c:pt idx="1">
                  <c:v>92.8</c:v>
                </c:pt>
                <c:pt idx="2">
                  <c:v>88.3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Simulation</c:v>
                </c:pt>
              </c:strCache>
            </c:strRef>
          </c:tx>
          <c:spPr>
            <a:solidFill>
              <a:srgbClr val="4C6A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B0 No bursting</c:v>
                  </c:pt>
                  <c:pt idx="1">
                    <c:v>B1 Threshold</c:v>
                  </c:pt>
                  <c:pt idx="2">
                    <c:v>PB PolicyBurst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34.7</c:v>
                </c:pt>
                <c:pt idx="1">
                  <c:v>66.7</c:v>
                </c:pt>
                <c:pt idx="2">
                  <c:v>76.2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Attainment points per ₹100 (5 bursts, 3 reps)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Attainment per ₹100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76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C6A9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1495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B1 Threshold-only</c:v>
                  </c:pt>
                  <c:pt idx="1">
                    <c:v>PB (full)</c:v>
                  </c:pt>
                  <c:pt idx="2">
                    <c:v>PB − cost accumulator</c:v>
                  </c:pt>
                  <c:pt idx="3">
                    <c:v>PB − latency filter</c:v>
                  </c:pt>
                  <c:pt idx="4">
                    <c:v>PB − residency filter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33.4</c:v>
                </c:pt>
                <c:pt idx="1">
                  <c:v>60.3</c:v>
                </c:pt>
                <c:pt idx="2">
                  <c:v>35.3</c:v>
                </c:pt>
                <c:pt idx="3">
                  <c:v>55.2</c:v>
                </c:pt>
                <c:pt idx="4">
                  <c:v>59.2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Penalty: PB without residency minus PB (pp)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Attainment penalty (pp)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0%</c:v>
                  </c:pt>
                  <c:pt idx="1">
                    <c:v>10%</c:v>
                  </c:pt>
                  <c:pt idx="2">
                    <c:v>30%</c:v>
                  </c:pt>
                  <c:pt idx="3">
                    <c:v>50%</c:v>
                  </c:pt>
                  <c:pt idx="4">
                    <c:v>70%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0.1</c:v>
                </c:pt>
                <c:pt idx="2">
                  <c:v>-5.7</c:v>
                </c:pt>
                <c:pt idx="3">
                  <c:v>5.9</c:v>
                </c:pt>
                <c:pt idx="4">
                  <c:v>31.9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Share of restricted traffic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263A"/>
                </a:solidFill>
                <a:latin typeface="+mn-lt"/>
              </a:rPr>
              <a:t>Attainment of restricted requests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PB (residency on)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81</c:v>
                </c:pt>
                <c:pt idx="2">
                  <c:v>64</c:v>
                </c:pt>
                <c:pt idx="3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 without residency</c:v>
                </c:pt>
              </c:strCache>
            </c:strRef>
          </c:tx>
          <c:spPr>
            <a:solidFill>
              <a:srgbClr val="D149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76</c:v>
                </c:pt>
                <c:pt idx="2">
                  <c:v>75</c:v>
                </c:pt>
                <c:pt idx="3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5"/>
                    </a:solidFill>
                    <a:latin typeface="+mn-lt"/>
                  </a:rPr>
                  <a:t>Share of restricted traffic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8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PolicyBurst loses at 2.5x: the latency filter keeps work off pub-us (2 x 148 ms RTT breaks the 300 ms SLO). At 2.5x the cluster is so overloaded that pub-us capacity, even though slow, relieves queueing more than it costs. A static latency filter ignores local queueing delay — a concrete improvement for the final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 · Policy-Driven Cloud Bursting ·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Policy-Driven Cloud Bursting Under Cost, Latency and Data-Residency Constraints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— Implementation and Preliminary Results  ·  23/09/2026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P11  ·  Cloud Computing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Ramanuj Agarwal  ·  23BCE1861   |   Guide: Indra Priyadarshini 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PVT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63040" y="1051560"/>
            <a:ext cx="822960" cy="914"/>
          </a:xfrm>
          <a:prstGeom prst="line">
            <a:avLst/>
          </a:prstGeom>
          <a:noFill/>
          <a:ln w="22225">
            <a:solidFill>
              <a:srgbClr val="CAD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77440" y="73152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77440" y="731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review covers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Each rubric component maps to a section of the deck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O1 &amp; O2 evidenced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Working controller in a version-controlled repo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4–7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Results vs baseline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Baseline and PolicyBurst on the same axes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9–11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10312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Ablation &amp; sweep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Which component causes the gain; behaviour vs load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Slides 12–13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26880" y="210312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3154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Threats to validity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What our setup cannot prove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C6A92"/>
                </a:solidFill>
              </a:rPr>
              <a:t>Slide 15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and evaluation method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Hypotheses from the problem formulation, evaluated on a real k3s testbed and in simulation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≥ 25% more SLO attainment per ₹ than threshold-only bursting, under bursts with a fixed ceiling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060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Zero ceiling breaches and zero residency violations in every PolicyBurst run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520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Residency enforcement (30% restricted traffic) costs ≤ 10 pp of SLO attainment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297680" cy="2514600"/>
          </a:xfrm>
          <a:prstGeom prst="roundRect">
            <a:avLst>
              <a:gd name="adj" fmla="val 2909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18105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Design changes during implementation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194560"/>
            <a:ext cx="3886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Public pool split into pub-in, pub-sg, pub-us so residency and latency have distinct effects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Safe scale-in: release a node only if its pods fit back on private capacity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Rollout + placement guards: testbed showed restricted pods leaking abroad mid-rollout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HPA max replicas 12 → 30; app does fixed CPU work per request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5394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617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Testbed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Real k3s v1.35 cluster, 5 nodes (2 private, 3 public), 2 vCPU each; netem WAN delay; Locust load; controller and baselines run end to end.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480560"/>
            <a:ext cx="5394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617720"/>
            <a:ext cx="502920" cy="50292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4617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Simulation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Same controller code (Decider, CostMeter) against a 1 s cluster model: HPA, scheduler, pod start-up, closed-loop users. 227 runs.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 — Constraints are inputs, not post-hoc filters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Every decision is made inside the feasible set defined by residency, latency and budget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74520"/>
            <a:ext cx="594360" cy="594360"/>
          </a:xfrm>
          <a:prstGeom prst="ellipse">
            <a:avLst/>
          </a:prstGeom>
          <a:solidFill>
            <a:srgbClr val="5B6675"/>
          </a:solidFill>
          <a:ln w="12700">
            <a:solidFill>
              <a:srgbClr val="5B66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Observe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Pending pods, private CPU, active nodes, RTT probes (every 15 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78608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16352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99232" y="1874520"/>
            <a:ext cx="594360" cy="5943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99232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Residency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999232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data-class label → permitted regions (hard, fail-closed)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4064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66944" y="1874520"/>
            <a:ext cx="594360" cy="594360"/>
          </a:xfrm>
          <a:prstGeom prst="ellipse">
            <a:avLst/>
          </a:prstGeom>
          <a:solidFill>
            <a:srgbClr val="4C6A92"/>
          </a:solidFill>
          <a:ln w="12700">
            <a:solidFill>
              <a:srgbClr val="4C6A9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66944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Latency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66944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2 × RTT + service time ≤ 300 ms SLO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114032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776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34656" y="1874520"/>
            <a:ext cx="594360" cy="5943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34656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34656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Budget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534656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spent + projected lease ≤ ceiling − reserve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381744" y="2898648"/>
            <a:ext cx="219456" cy="914"/>
          </a:xfrm>
          <a:prstGeom prst="line">
            <a:avLst/>
          </a:prstGeom>
          <a:noFill/>
          <a:ln w="22225">
            <a:solidFill>
              <a:srgbClr val="12263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19488" y="173736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02368" y="1874520"/>
            <a:ext cx="594360" cy="594360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02368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60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Act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297180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cheapest feasible node; else reject with reason code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8DDE1"/>
          </a:solidFill>
          <a:ln w="9525">
            <a:solidFill>
              <a:srgbClr val="F8DD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80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1495B"/>
                </a:solidFill>
              </a:rPr>
              <a:t>Threshold baseline (post-hoc)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burst when CPU &gt; 75% or pods pend → cheapest node, any region. Budget and residency are discovered broken after capacity is bought.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17920" y="43434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4480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</a:rPr>
              <a:t>PolicyBurst (constraint-first)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build the feasible set per workload first, then choose within it. Empty set → request rejected and logged with a reason (residency, latency, budget).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as a Kubernetes object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Administrators change rules with kubectl apply — the controller re-reads the policy every cycle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035040" cy="4434840"/>
          </a:xfrm>
          <a:prstGeom prst="roundRect">
            <a:avLst>
              <a:gd name="adj" fmla="val 1649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669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p11.burst/v1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BurstPolicy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{ name: campus-default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monthlyCeilingINR: 2000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reserveINR: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sloLatencyMs: 300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minLeaseHours: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private, region: IN, private: 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pub-in, region: IN,     ratePerHourINR: 1.8}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pub-sg, region: non-IN, ratePerHourINR: 1.4}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{name: pub-us, region: non-IN, ratePerHourINR: 1.0}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residency: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restricted: [IN]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internal:   [IN, non-IN]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public:     [IN, non-IN]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</a:rPr>
              <a:t>Workload labels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9456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828800"/>
                <a:gridCol w="1417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p11.burst/data-class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run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records, Aadhaar-linked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private, pub-in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Timetable, LMS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site, open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949440" y="4251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Missing or unknown class → treated as restricted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Rates are shadow prices: free-tier usage bills ₹0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experiment.yaml compresses a month into 1 h and scales rates ×100, so the ceiling binds within a 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 — Implementation in a version-controlled repo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github.com/AviatorRoyal/cloud-burst · Python controller on the official Kubernetes client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434840"/>
          </a:xfrm>
          <a:prstGeom prst="roundRect">
            <a:avLst>
              <a:gd name="adj" fmla="val 1649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cloud-burst/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policyburst/      # controller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policy.py  feasibility.py  cost.py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decision.py   # when / how much / which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signals.py  actuator.py  main.py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baselines/threshold.py   # B1 = constraints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deploy/  k3s/ k3d/ crd/ policy/ app/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load/locustfile.py       # burst + ramp shapes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experiments/run_matrix.py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sim/  cluster.py  run.py # simulation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analysis/  metrics aggregate timeline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evidence/   results/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# 28 unit tests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Commit history (git log)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24028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270e7e3 2026-10-26 Add testbed, simulator, guards and full evaluation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b17414a 2026-10-26 Point decks at the real GitHub repo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0274ee2 2026-10-26 Initial PolicyBurst project: controller, baselines, testbed, experiments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470916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48006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</a:rPr>
              <a:t>Demo: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kubectl apply a policy, start a Locust burst, watch restricted pods land only on private / pub-in while internal pods use pub-sg.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accumulator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Projects spend before buying capacity, so the ceiling is approached, never crossed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949440" cy="3108960"/>
          </a:xfrm>
          <a:prstGeom prst="roundRect">
            <a:avLst>
              <a:gd name="adj" fmla="val 2353"/>
            </a:avLst>
          </a:prstGeom>
          <a:solidFill>
            <a:srgbClr val="0F1B2A"/>
          </a:solidFill>
          <a:ln w="9525">
            <a:solidFill>
              <a:srgbClr val="0F1B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can_acquire(meter, policy, dest):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lease = min(policy.min_lease_hours, meter.hours_left(policy))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projected = meter.total_inr() +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(meter.burn_rate_inr_h() + dest.rate_per_hour_inr) * lease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projected &lt;= policy.ceiling - policy.reserve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must_halt(meter, policy, interval_s):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meter.total_inr() + meter.burn_rate_inr_h() * interval_s / 3600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nxt &gt; policy.ceiling - policy.reserve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863840" y="169164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0" y="1691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</a:rPr>
              <a:t>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ceiling breaches allowed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2770632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770632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</a:rPr>
              <a:t>1 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277063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metering resolution (per-second billing)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3840" y="3849624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3849624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6A92"/>
                </a:solidFill>
              </a:rPr>
              <a:t>₹100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38496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reserve below ceiling (campus policy)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Why projected, not current: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a node acquired just under the ceiling still bills for its whole lease. A current-spend check overshoots by up to one lease per node.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Same app, load shapes and metrics for every configuration — only the controller changes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real k3s nodes (testbed)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burst shapes (5 sizes × 3 durations)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repetitions, paired seeds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16916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227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E8"/>
                </a:solidFill>
              </a:rPr>
              <a:t>simulated runs in total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6858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No bursting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Threshold-only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 PolicyBurst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PB-noRes / -noLat / -noCost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ablation: one constraint 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3337560"/>
            <a:ext cx="3749040" cy="2788920"/>
          </a:xfrm>
          <a:prstGeom prst="roundRect">
            <a:avLst>
              <a:gd name="adj" fmla="val 262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3474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Load (Locust, closed loop)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886200"/>
            <a:ext cx="33375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Bursts of 1.5–4× private capacity for 60, 180 or 300 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Base 40 users; 2 req/s per user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30% of requests restricted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</a:rPr>
              <a:t>SLO: success within 300 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attainment and attainment per 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PolicyBurst gives +41% attainment per ₹ at 1.5× and +23% at 2×, but −13% at 2.5×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60020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4476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</a:rPr>
              <a:t>Simulation, 3 repetitions per point, mean shown. B0 spends nothing, so it has no per-₹ value.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the ceiling holds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Five 2× bursts in one compressed billing month: threshold-only spends ₹257 against a ₹120 ceiling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8308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189720" y="1737360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ends at ₹257: 2.1× the ceiling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412480" y="324612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PB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3200400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stops at ₹109, under ceiling − reserve; later bursts fall back to private capacity or are rejected with reason "budget"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475488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DDF1EE"/>
          </a:solidFill>
          <a:ln w="9525">
            <a:solidFill>
              <a:srgbClr val="DD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0" y="48463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</a:rPr>
              <a:t>H2 check: ceiling breached in 100% of B1 runs, 0% of PB runs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14476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</a:rPr>
              <a:t>Simulation, repetition 1 shown; repetitions 2–3 give the same outcome (see ablation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check: does the simulation agree?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Same configurations on the real 5-node k3s cluster at a 2× burst of 180 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9164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Testbed, mean of 3 runs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 attainment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 (ms)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 (₹, shadow)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node-hours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Residency violations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675120" y="457200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</a:rPr>
              <a:t>B1 and PB rank differently: on the testbed pub-us measures ≈120 ms RTT and fits the SLO, so the latency filter removes nothing and PB only gives up foreign capacity for restricted pods. The model adds a 28 ms WAN base (148 ms), where filtering pub-us pays off.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4476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</a:rPr>
              <a:t>Testbed: k3s v1.35.5 via k3d on WSL2 (host DEATHSTAR, 16 vCPU); Locust 2.47, 4 processes. Raw data in results/testbed/.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Ablation: which component causes the gain?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Repeated 2× bursts, ceiling binding: PolicyBurst gets +80% attainment per ₹ over threshold-only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761A"/>
                </a:solidFill>
              </a:rPr>
              <a:t>− cost accumulator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011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Attainment 88.8% but spend ₹251: ceiling breached in every run. The accumulator is what makes PB efficient.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06640" y="3118104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32095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C6A92"/>
                </a:solidFill>
              </a:rPr>
              <a:t>− latency filter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529584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Uses cheap pub-us: attainment falls to 60.1% (from 65.9%) for the same budget.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406640" y="4636008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4727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</a:rPr>
              <a:t>− residency filter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50474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Similar efficiency, but 57,186 restricted requests served outside India per run.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4476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</a:rPr>
              <a:t>Simulation. Without the cost accumulator PolicyBurst behaves like the baseline on spend; the gain comes from budget-aware acquisition.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sweep: what residency costs (O4)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Penalty is within noise up to 30% restricted traffic, then rises to 32 pp at 70% as pub-in saturates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60020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4476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</a:rPr>
              <a:t>Simulation, 2× / 180 s bursts, 3 repetitions. Restricted work can only use private + pub-in; the cost of compliance is the capacity of one in-country node.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Hypotheses: preliminary verdict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Reported against the hypotheses as stated, including where the data disagrees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731520" cy="731520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91640" y="205740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916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Partly supported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755648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Per-₹ gain 1.5×: +41% · 2×: +23% · 2.5×: −13% · 3×: +8% · 4×: +7%. With a binding ceiling (repeated bursts): +80%. Fails at 2.5× because the static latency filter forgoes pub-us capacity.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3383280"/>
            <a:ext cx="731520" cy="731520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91640" y="352044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91640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Supported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218688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PolicyBurst: 0 ceiling breaches and 0 residency violations in 227 simulated runs; testbed: 0 violations. Threshold-only: 17,350 violations per run on average (simulation); ceiling breached in every repeated-burst run.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846320"/>
            <a:ext cx="731520" cy="731520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91640" y="49834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91640" y="4983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Supported at 30%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4681728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Penalty at 30% restricted: -5.7 pp (≤ 10 pp). It grows to 5.9 pp at 50% and 31.9 pp at 70%.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 to validity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What our setup cannot prove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Simulation model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Fluid queues and an M/M/1-style service time approximate the app; the testbed check covers one burst size only.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One host, emulated WAN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All testbed nodes share one machine; pub-sg/pub-us are netem delays, not real foreign regions, so jitter and loss are idealised.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87452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18928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Cost is modelled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51460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Free tier bills ₹0, so spend is shadow-priced and time-compressed ×100; egress, storage and billing rounding are ignored.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Synthetic load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Locust bursts are square waves; real campus demand ramps, overlaps and has diurnal patterns.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Residency ≠ legal compliance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Enforced at pod placement only. Logs, backups, DNS and the control plane may still cross borders.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39319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9525">
            <a:solidFill>
              <a:srgbClr val="C9D3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114800"/>
            <a:ext cx="502920" cy="50292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413308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Small scale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548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</a:rPr>
              <a:t>5 nodes, 3 services, 3 repetitions; CI widths are large at 2–2.5× where outcomes depend on start-up timing.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 to the final review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A92"/>
                </a:solidFill>
              </a:rPr>
              <a:t>Close the H1 gap and move from emulation to a real public region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6304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4864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Queue-aware latency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Admit a slow region when local queueing delay is worse (fixes 2.5×)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9768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Real public node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Join one free-tier VM in an Indian region; repeat the testbed check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822960" cy="8229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132320" y="2240280"/>
            <a:ext cx="1828800" cy="914"/>
          </a:xfrm>
          <a:prstGeom prst="line">
            <a:avLst/>
          </a:prstGeom>
          <a:noFill/>
          <a:ln w="22225">
            <a:solidFill>
              <a:srgbClr val="C9D3D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21792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Wider testbed check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All burst sizes on the cluster, not only 2×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28800"/>
            <a:ext cx="822960" cy="82296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</a:rPr>
              <a:t>Write-up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337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</a:rPr>
              <a:t>DPDP-aware bursting paper draft; artefact on GitHub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9525">
            <a:solidFill>
              <a:srgbClr val="EE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</a:rPr>
              <a:t>Reproduce everything: </a:t>
            </a:r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</a:rPr>
              <a:t>sudo ./deploy/k3d/create-local-testbed.sh · python experiments/run_matrix.py … · python -m sim.run all · python analysis/aggregate.py — see the README.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PolicyBurst: residency, latency and budget decide where work may go — before the controller decides where it should go.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11 Cloud Bursting">
  <a:themeElements>
    <a:clrScheme name="P11 Cloud Bursting">
      <a:dk1>
        <a:srgbClr val="1B2430"/>
      </a:dk1>
      <a:lt1>
        <a:srgbClr val="FFFFFF"/>
      </a:lt1>
      <a:dk2>
        <a:srgbClr val="12263A"/>
      </a:dk2>
      <a:lt2>
        <a:srgbClr val="EEF3F6"/>
      </a:lt2>
      <a:accent1>
        <a:srgbClr val="2A9D8F"/>
      </a:accent1>
      <a:accent2>
        <a:srgbClr val="E9A23B"/>
      </a:accent2>
      <a:accent3>
        <a:srgbClr val="D1495B"/>
      </a:accent3>
      <a:accent4>
        <a:srgbClr val="4C6A92"/>
      </a:accent4>
      <a:accent5>
        <a:srgbClr val="8AB17D"/>
      </a:accent5>
      <a:accent6>
        <a:srgbClr val="6C757D"/>
      </a:accent6>
      <a:hlink>
        <a:srgbClr val="2A9D8F"/>
      </a:hlink>
      <a:folHlink>
        <a:srgbClr val="4C6A92"/>
      </a:folHlink>
    </a:clrScheme>
    <a:fontScheme name="P11 Cloud Burst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P11 Review 2 — Implementation and Preliminary Results</dc:title>
  <dc:subject>PptxGenJS Presentation</dc:subject>
  <dc:creator>Team P11</dc:creator>
  <cp:lastModifiedBy>Team P11</cp:lastModifiedBy>
  <cp:revision>1</cp:revision>
  <dcterms:created xsi:type="dcterms:W3CDTF">2026-10-25T23:56:03Z</dcterms:created>
  <dcterms:modified xsi:type="dcterms:W3CDTF">2026-10-25T23:56:03Z</dcterms:modified>
</cp:coreProperties>
</file>