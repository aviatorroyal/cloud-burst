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6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b74e6e6-2c88-a591-0124-e966b496f2a0}">
          <p14:sldIdLst>
            <p14:sldId id="256"/>
            <p14:sldId id="257"/>
          </p14:sldIdLst>
        </p14:section>
        <p14:section name="Problem" id="{a85107a6-ce8b-5ba8-7a02-d08df6ae795c}">
          <p14:sldIdLst>
            <p14:sldId id="258"/>
            <p14:sldId id="259"/>
            <p14:sldId id="260"/>
          </p14:sldIdLst>
        </p14:section>
        <p14:section name="Design" id="{3911a9a9-8487-90e7-0a90-bb3718bd102b}">
          <p14:sldIdLst>
            <p14:sldId id="261"/>
            <p14:sldId id="262"/>
          </p14:sldIdLst>
        </p14:section>
        <p14:section name="Implementation" id="{98ee0094-9f3e-9d89-c470-5bb38afea878}">
          <p14:sldIdLst>
            <p14:sldId id="263"/>
            <p14:sldId id="264"/>
          </p14:sldIdLst>
        </p14:section>
        <p14:section name="Evaluation" id="{8ce9fae2-02b9-a9a8-0855-9b563f25d66a}">
          <p14:sldIdLst>
            <p14:sldId id="265"/>
          </p14:sldIdLst>
        </p14:section>
        <p14:section name="Results" id="{21c5b43e-1fe5-f883-ac10-7b5976fc997a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Discussion" id="{b0807ce3-3e0b-e18b-9e76-d83e5b49d64f}">
          <p14:sldIdLst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SLO attainment per 15 s window (%), repetition 1 — burst from minute 2.0 to 5.0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B0 No bursting</c:v>
                </c:pt>
              </c:strCache>
            </c:strRef>
          </c:tx>
          <c:spPr>
            <a:solidFill>
              <a:srgbClr val="5B6675"/>
            </a:solidFill>
            <a:ln w="25400" cap="flat">
              <a:solidFill>
                <a:srgbClr val="5B66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675"/>
              </a:solidFill>
              <a:ln w="9525" cap="flat">
                <a:solidFill>
                  <a:srgbClr val="5B66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0.0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0.8</c:v>
                  </c:pt>
                  <c:pt idx="4">
                    <c:v>1.0</c:v>
                  </c:pt>
                  <c:pt idx="5">
                    <c:v>1.3</c:v>
                  </c:pt>
                  <c:pt idx="6">
                    <c:v>1.5</c:v>
                  </c:pt>
                  <c:pt idx="7">
                    <c:v>1.8</c:v>
                  </c:pt>
                  <c:pt idx="8">
                    <c:v>2.0</c:v>
                  </c:pt>
                  <c:pt idx="9">
                    <c:v>2.3</c:v>
                  </c:pt>
                  <c:pt idx="10">
                    <c:v>2.5</c:v>
                  </c:pt>
                  <c:pt idx="11">
                    <c:v>2.8</c:v>
                  </c:pt>
                  <c:pt idx="12">
                    <c:v>3.0</c:v>
                  </c:pt>
                  <c:pt idx="13">
                    <c:v>3.3</c:v>
                  </c:pt>
                  <c:pt idx="14">
                    <c:v>3.5</c:v>
                  </c:pt>
                  <c:pt idx="15">
                    <c:v>3.8</c:v>
                  </c:pt>
                  <c:pt idx="16">
                    <c:v>4.0</c:v>
                  </c:pt>
                  <c:pt idx="17">
                    <c:v>4.3</c:v>
                  </c:pt>
                  <c:pt idx="18">
                    <c:v>4.5</c:v>
                  </c:pt>
                  <c:pt idx="19">
                    <c:v>4.8</c:v>
                  </c:pt>
                  <c:pt idx="20">
                    <c:v>5.0</c:v>
                  </c:pt>
                  <c:pt idx="21">
                    <c:v>5.3</c:v>
                  </c:pt>
                  <c:pt idx="22">
                    <c:v>5.5</c:v>
                  </c:pt>
                  <c:pt idx="23">
                    <c:v>5.8</c:v>
                  </c:pt>
                  <c:pt idx="24">
                    <c:v>6.0</c:v>
                  </c:pt>
                  <c:pt idx="25">
                    <c:v>6.3</c:v>
                  </c:pt>
                  <c:pt idx="26">
                    <c:v>6.5</c:v>
                  </c:pt>
                  <c:pt idx="27">
                    <c:v>6.8</c:v>
                  </c:pt>
                  <c:pt idx="28">
                    <c:v>7.0</c:v>
                  </c:pt>
                  <c:pt idx="29">
                    <c:v>7.3</c:v>
                  </c:pt>
                  <c:pt idx="30">
                    <c:v>7.5</c:v>
                  </c:pt>
                  <c:pt idx="31">
                    <c:v>7.8</c:v>
                  </c:pt>
                  <c:pt idx="32">
                    <c:v>8.0</c:v>
                  </c:pt>
                </c:lvl>
              </c:multiLvlStrCache>
            </c:multiLvlStrRef>
          </c:cat>
          <c:val>
            <c:numRef>
              <c:f>Sheet1!$B$2:$B$34</c:f>
              <c:numCache>
                <c:formatCode>General</c:formatCode>
                <c:ptCount val="33"/>
                <c:pt idx="0">
                  <c:v>88.44</c:v>
                </c:pt>
                <c:pt idx="1">
                  <c:v>97.62</c:v>
                </c:pt>
                <c:pt idx="2">
                  <c:v>99.72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39.2</c:v>
                </c:pt>
                <c:pt idx="9">
                  <c:v>54.34</c:v>
                </c:pt>
                <c:pt idx="10">
                  <c:v>54.52</c:v>
                </c:pt>
                <c:pt idx="11">
                  <c:v>51.08</c:v>
                </c:pt>
                <c:pt idx="12">
                  <c:v>52.35</c:v>
                </c:pt>
                <c:pt idx="13">
                  <c:v>43.1</c:v>
                </c:pt>
                <c:pt idx="14">
                  <c:v>46.82</c:v>
                </c:pt>
                <c:pt idx="15">
                  <c:v>59.19</c:v>
                </c:pt>
                <c:pt idx="16">
                  <c:v>53.15</c:v>
                </c:pt>
                <c:pt idx="17">
                  <c:v>52.31</c:v>
                </c:pt>
                <c:pt idx="18">
                  <c:v>52.86</c:v>
                </c:pt>
                <c:pt idx="19">
                  <c:v>52.61</c:v>
                </c:pt>
                <c:pt idx="20">
                  <c:v>80.25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B1 Threshold-only</c:v>
                </c:pt>
              </c:strCache>
            </c:strRef>
          </c:tx>
          <c:spPr>
            <a:solidFill>
              <a:srgbClr val="E9A23B"/>
            </a:solidFill>
            <a:ln w="2540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0.0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0.8</c:v>
                  </c:pt>
                  <c:pt idx="4">
                    <c:v>1.0</c:v>
                  </c:pt>
                  <c:pt idx="5">
                    <c:v>1.3</c:v>
                  </c:pt>
                  <c:pt idx="6">
                    <c:v>1.5</c:v>
                  </c:pt>
                  <c:pt idx="7">
                    <c:v>1.8</c:v>
                  </c:pt>
                  <c:pt idx="8">
                    <c:v>2.0</c:v>
                  </c:pt>
                  <c:pt idx="9">
                    <c:v>2.3</c:v>
                  </c:pt>
                  <c:pt idx="10">
                    <c:v>2.5</c:v>
                  </c:pt>
                  <c:pt idx="11">
                    <c:v>2.8</c:v>
                  </c:pt>
                  <c:pt idx="12">
                    <c:v>3.0</c:v>
                  </c:pt>
                  <c:pt idx="13">
                    <c:v>3.3</c:v>
                  </c:pt>
                  <c:pt idx="14">
                    <c:v>3.5</c:v>
                  </c:pt>
                  <c:pt idx="15">
                    <c:v>3.8</c:v>
                  </c:pt>
                  <c:pt idx="16">
                    <c:v>4.0</c:v>
                  </c:pt>
                  <c:pt idx="17">
                    <c:v>4.3</c:v>
                  </c:pt>
                  <c:pt idx="18">
                    <c:v>4.5</c:v>
                  </c:pt>
                  <c:pt idx="19">
                    <c:v>4.8</c:v>
                  </c:pt>
                  <c:pt idx="20">
                    <c:v>5.0</c:v>
                  </c:pt>
                  <c:pt idx="21">
                    <c:v>5.3</c:v>
                  </c:pt>
                  <c:pt idx="22">
                    <c:v>5.5</c:v>
                  </c:pt>
                  <c:pt idx="23">
                    <c:v>5.8</c:v>
                  </c:pt>
                  <c:pt idx="24">
                    <c:v>6.0</c:v>
                  </c:pt>
                  <c:pt idx="25">
                    <c:v>6.3</c:v>
                  </c:pt>
                  <c:pt idx="26">
                    <c:v>6.5</c:v>
                  </c:pt>
                  <c:pt idx="27">
                    <c:v>6.8</c:v>
                  </c:pt>
                  <c:pt idx="28">
                    <c:v>7.0</c:v>
                  </c:pt>
                  <c:pt idx="29">
                    <c:v>7.3</c:v>
                  </c:pt>
                  <c:pt idx="30">
                    <c:v>7.5</c:v>
                  </c:pt>
                  <c:pt idx="31">
                    <c:v>7.8</c:v>
                  </c:pt>
                  <c:pt idx="32">
                    <c:v>8.0</c:v>
                  </c:pt>
                </c:lvl>
              </c:multiLvlStrCache>
            </c:multiLvlStrRef>
          </c:cat>
          <c:val>
            <c:numRef>
              <c:f>Sheet1!$C$2:$C$34</c:f>
              <c:numCache>
                <c:formatCode>General</c:formatCode>
                <c:ptCount val="33"/>
                <c:pt idx="0">
                  <c:v>92.5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68.18</c:v>
                </c:pt>
                <c:pt idx="9">
                  <c:v>77.42</c:v>
                </c:pt>
                <c:pt idx="10">
                  <c:v>81.59</c:v>
                </c:pt>
                <c:pt idx="11">
                  <c:v>97.28</c:v>
                </c:pt>
                <c:pt idx="12">
                  <c:v>98.14</c:v>
                </c:pt>
                <c:pt idx="13">
                  <c:v>99.08</c:v>
                </c:pt>
                <c:pt idx="14">
                  <c:v>99.19</c:v>
                </c:pt>
                <c:pt idx="15">
                  <c:v>98.19</c:v>
                </c:pt>
                <c:pt idx="16">
                  <c:v>99.11</c:v>
                </c:pt>
                <c:pt idx="17">
                  <c:v>98.58</c:v>
                </c:pt>
                <c:pt idx="18">
                  <c:v>98.92</c:v>
                </c:pt>
                <c:pt idx="19">
                  <c:v>98.78</c:v>
                </c:pt>
                <c:pt idx="20">
                  <c:v>99.53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PolicyBurst</c:v>
                </c:pt>
              </c:strCache>
            </c:strRef>
          </c:tx>
          <c:spPr>
            <a:solidFill>
              <a:srgbClr val="2A9D8F"/>
            </a:solidFill>
            <a:ln w="2540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Sheet1!$A$2:$A$34</c:f>
              <c:multiLvlStrCache>
                <c:ptCount val="33"/>
                <c:lvl>
                  <c:pt idx="0">
                    <c:v>0.0</c:v>
                  </c:pt>
                  <c:pt idx="1">
                    <c:v>0.3</c:v>
                  </c:pt>
                  <c:pt idx="2">
                    <c:v>0.5</c:v>
                  </c:pt>
                  <c:pt idx="3">
                    <c:v>0.8</c:v>
                  </c:pt>
                  <c:pt idx="4">
                    <c:v>1.0</c:v>
                  </c:pt>
                  <c:pt idx="5">
                    <c:v>1.3</c:v>
                  </c:pt>
                  <c:pt idx="6">
                    <c:v>1.5</c:v>
                  </c:pt>
                  <c:pt idx="7">
                    <c:v>1.8</c:v>
                  </c:pt>
                  <c:pt idx="8">
                    <c:v>2.0</c:v>
                  </c:pt>
                  <c:pt idx="9">
                    <c:v>2.3</c:v>
                  </c:pt>
                  <c:pt idx="10">
                    <c:v>2.5</c:v>
                  </c:pt>
                  <c:pt idx="11">
                    <c:v>2.8</c:v>
                  </c:pt>
                  <c:pt idx="12">
                    <c:v>3.0</c:v>
                  </c:pt>
                  <c:pt idx="13">
                    <c:v>3.3</c:v>
                  </c:pt>
                  <c:pt idx="14">
                    <c:v>3.5</c:v>
                  </c:pt>
                  <c:pt idx="15">
                    <c:v>3.8</c:v>
                  </c:pt>
                  <c:pt idx="16">
                    <c:v>4.0</c:v>
                  </c:pt>
                  <c:pt idx="17">
                    <c:v>4.3</c:v>
                  </c:pt>
                  <c:pt idx="18">
                    <c:v>4.5</c:v>
                  </c:pt>
                  <c:pt idx="19">
                    <c:v>4.8</c:v>
                  </c:pt>
                  <c:pt idx="20">
                    <c:v>5.0</c:v>
                  </c:pt>
                  <c:pt idx="21">
                    <c:v>5.3</c:v>
                  </c:pt>
                  <c:pt idx="22">
                    <c:v>5.5</c:v>
                  </c:pt>
                  <c:pt idx="23">
                    <c:v>5.8</c:v>
                  </c:pt>
                  <c:pt idx="24">
                    <c:v>6.0</c:v>
                  </c:pt>
                  <c:pt idx="25">
                    <c:v>6.3</c:v>
                  </c:pt>
                  <c:pt idx="26">
                    <c:v>6.5</c:v>
                  </c:pt>
                  <c:pt idx="27">
                    <c:v>6.8</c:v>
                  </c:pt>
                  <c:pt idx="28">
                    <c:v>7.0</c:v>
                  </c:pt>
                  <c:pt idx="29">
                    <c:v>7.3</c:v>
                  </c:pt>
                  <c:pt idx="30">
                    <c:v>7.5</c:v>
                  </c:pt>
                  <c:pt idx="31">
                    <c:v>7.8</c:v>
                  </c:pt>
                  <c:pt idx="32">
                    <c:v>8.0</c:v>
                  </c:pt>
                </c:lvl>
              </c:multiLvlStrCache>
            </c:multiLvlStrRef>
          </c:cat>
          <c:val>
            <c:numRef>
              <c:f>Sheet1!$D$2:$D$34</c:f>
              <c:numCache>
                <c:formatCode>General</c:formatCode>
                <c:ptCount val="33"/>
                <c:pt idx="0">
                  <c:v>99.72</c:v>
                </c:pt>
                <c:pt idx="1">
                  <c:v>100</c:v>
                </c:pt>
                <c:pt idx="2">
                  <c:v>100</c:v>
                </c:pt>
                <c:pt idx="3">
                  <c:v>99.72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55.45</c:v>
                </c:pt>
                <c:pt idx="9">
                  <c:v>44.09</c:v>
                </c:pt>
                <c:pt idx="10">
                  <c:v>59.58</c:v>
                </c:pt>
                <c:pt idx="11">
                  <c:v>61.65</c:v>
                </c:pt>
                <c:pt idx="12">
                  <c:v>55.45</c:v>
                </c:pt>
                <c:pt idx="13">
                  <c:v>58.39</c:v>
                </c:pt>
                <c:pt idx="14">
                  <c:v>75.13</c:v>
                </c:pt>
                <c:pt idx="15">
                  <c:v>77.75</c:v>
                </c:pt>
                <c:pt idx="16">
                  <c:v>97.14</c:v>
                </c:pt>
                <c:pt idx="17">
                  <c:v>97.14</c:v>
                </c:pt>
                <c:pt idx="18">
                  <c:v>98.53</c:v>
                </c:pt>
                <c:pt idx="19">
                  <c:v>99.42</c:v>
                </c:pt>
                <c:pt idx="20">
                  <c:v>99.47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4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SLO attainment (%) at 2× / 180 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Testbed (measured)</c:v>
                </c:pt>
              </c:strCache>
            </c:strRef>
          </c:tx>
          <c:spPr>
            <a:solidFill>
              <a:srgbClr val="1226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B0 No bursting</c:v>
                  </c:pt>
                  <c:pt idx="1">
                    <c:v>B1 Threshold</c:v>
                  </c:pt>
                  <c:pt idx="2">
                    <c:v>PolicyBurst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66.7</c:v>
                </c:pt>
                <c:pt idx="1">
                  <c:v>92.8</c:v>
                </c:pt>
                <c:pt idx="2">
                  <c:v>88.3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Simulation</c:v>
                </c:pt>
              </c:strCache>
            </c:strRef>
          </c:tx>
          <c:spPr>
            <a:solidFill>
              <a:srgbClr val="4C6A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B0 No bursting</c:v>
                  </c:pt>
                  <c:pt idx="1">
                    <c:v>B1 Threshold</c:v>
                  </c:pt>
                  <c:pt idx="2">
                    <c:v>PolicyBurst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34.7</c:v>
                </c:pt>
                <c:pt idx="1">
                  <c:v>66.7</c:v>
                </c:pt>
                <c:pt idx="2">
                  <c:v>76.2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SLO attainment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B0 No bursting</c:v>
                </c:pt>
              </c:strCache>
            </c:strRef>
          </c:tx>
          <c:spPr>
            <a:solidFill>
              <a:srgbClr val="5B6675"/>
            </a:solidFill>
            <a:ln w="31750" cap="flat">
              <a:solidFill>
                <a:srgbClr val="5B66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B6675"/>
              </a:solidFill>
              <a:ln w="9525" cap="flat">
                <a:solidFill>
                  <a:srgbClr val="5B66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1.5×</c:v>
                  </c:pt>
                  <c:pt idx="1">
                    <c:v>2×</c:v>
                  </c:pt>
                  <c:pt idx="2">
                    <c:v>2.5×</c:v>
                  </c:pt>
                  <c:pt idx="3">
                    <c:v>3×</c:v>
                  </c:pt>
                  <c:pt idx="4">
                    <c:v>4×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45.593</c:v>
                </c:pt>
                <c:pt idx="1">
                  <c:v>34.71</c:v>
                </c:pt>
                <c:pt idx="2">
                  <c:v>28.213</c:v>
                </c:pt>
                <c:pt idx="3">
                  <c:v>19.337</c:v>
                </c:pt>
                <c:pt idx="4">
                  <c:v>16.833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B1 Threshold-only</c:v>
                </c:pt>
              </c:strCache>
            </c:strRef>
          </c:tx>
          <c:spPr>
            <a:solidFill>
              <a:srgbClr val="E9A23B"/>
            </a:solidFill>
            <a:ln w="3175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1.5×</c:v>
                  </c:pt>
                  <c:pt idx="1">
                    <c:v>2×</c:v>
                  </c:pt>
                  <c:pt idx="2">
                    <c:v>2.5×</c:v>
                  </c:pt>
                  <c:pt idx="3">
                    <c:v>3×</c:v>
                  </c:pt>
                  <c:pt idx="4">
                    <c:v>4×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75.457</c:v>
                </c:pt>
                <c:pt idx="1">
                  <c:v>66.69</c:v>
                </c:pt>
                <c:pt idx="2">
                  <c:v>54.91</c:v>
                </c:pt>
                <c:pt idx="3">
                  <c:v>36.003</c:v>
                </c:pt>
                <c:pt idx="4">
                  <c:v>30.13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PolicyBurst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1.5×</c:v>
                  </c:pt>
                  <c:pt idx="1">
                    <c:v>2×</c:v>
                  </c:pt>
                  <c:pt idx="2">
                    <c:v>2.5×</c:v>
                  </c:pt>
                  <c:pt idx="3">
                    <c:v>3×</c:v>
                  </c:pt>
                  <c:pt idx="4">
                    <c:v>4×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86.593</c:v>
                </c:pt>
                <c:pt idx="1">
                  <c:v>76.187</c:v>
                </c:pt>
                <c:pt idx="2">
                  <c:v>43.187</c:v>
                </c:pt>
                <c:pt idx="3">
                  <c:v>35.23</c:v>
                </c:pt>
                <c:pt idx="4">
                  <c:v>29.59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Burst size (× private capacity)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Attainment points per ₹100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B1 Threshold-only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1.5×</c:v>
                  </c:pt>
                  <c:pt idx="1">
                    <c:v>2×</c:v>
                  </c:pt>
                  <c:pt idx="2">
                    <c:v>2.5×</c:v>
                  </c:pt>
                  <c:pt idx="3">
                    <c:v>3×</c:v>
                  </c:pt>
                  <c:pt idx="4">
                    <c:v>4×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232</c:v>
                </c:pt>
                <c:pt idx="1">
                  <c:v>205</c:v>
                </c:pt>
                <c:pt idx="2">
                  <c:v>174</c:v>
                </c:pt>
                <c:pt idx="3">
                  <c:v>110</c:v>
                </c:pt>
                <c:pt idx="4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PolicyBurst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1.5×</c:v>
                  </c:pt>
                  <c:pt idx="1">
                    <c:v>2×</c:v>
                  </c:pt>
                  <c:pt idx="2">
                    <c:v>2.5×</c:v>
                  </c:pt>
                  <c:pt idx="3">
                    <c:v>3×</c:v>
                  </c:pt>
                  <c:pt idx="4">
                    <c:v>4×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325</c:v>
                </c:pt>
                <c:pt idx="1">
                  <c:v>251</c:v>
                </c:pt>
                <c:pt idx="2">
                  <c:v>151</c:v>
                </c:pt>
                <c:pt idx="3">
                  <c:v>119</c:v>
                </c:pt>
                <c:pt idx="4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Burst size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Cumulative spend (₹, shadow-priced)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B1 Threshold-only</c:v>
                </c:pt>
              </c:strCache>
            </c:strRef>
          </c:tx>
          <c:spPr>
            <a:solidFill>
              <a:srgbClr val="E9A23B"/>
            </a:solidFill>
            <a:ln w="31750" cap="flat">
              <a:solidFill>
                <a:srgbClr val="E9A2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9A23B"/>
              </a:solidFill>
              <a:ln w="9525" cap="flat">
                <a:solidFill>
                  <a:srgbClr val="E9A2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0.4167</c:v>
                </c:pt>
                <c:pt idx="4">
                  <c:v>4.5833</c:v>
                </c:pt>
                <c:pt idx="5">
                  <c:v>11.5833</c:v>
                </c:pt>
                <c:pt idx="6">
                  <c:v>18.5833</c:v>
                </c:pt>
                <c:pt idx="7">
                  <c:v>25.5833</c:v>
                </c:pt>
                <c:pt idx="8">
                  <c:v>32.5833</c:v>
                </c:pt>
                <c:pt idx="9">
                  <c:v>39.5833</c:v>
                </c:pt>
                <c:pt idx="10">
                  <c:v>46.5833</c:v>
                </c:pt>
                <c:pt idx="11">
                  <c:v>53.5833</c:v>
                </c:pt>
                <c:pt idx="12">
                  <c:v>60.5833</c:v>
                </c:pt>
                <c:pt idx="13">
                  <c:v>67.5833</c:v>
                </c:pt>
                <c:pt idx="14">
                  <c:v>74.5833</c:v>
                </c:pt>
                <c:pt idx="15">
                  <c:v>81.5833</c:v>
                </c:pt>
                <c:pt idx="16">
                  <c:v>88.5833</c:v>
                </c:pt>
                <c:pt idx="17">
                  <c:v>95.5833</c:v>
                </c:pt>
                <c:pt idx="18">
                  <c:v>102.5833</c:v>
                </c:pt>
                <c:pt idx="19">
                  <c:v>109.5833</c:v>
                </c:pt>
                <c:pt idx="20">
                  <c:v>116.5833</c:v>
                </c:pt>
                <c:pt idx="21">
                  <c:v>123.5833</c:v>
                </c:pt>
                <c:pt idx="22">
                  <c:v>130.5833</c:v>
                </c:pt>
                <c:pt idx="23">
                  <c:v>137.5833</c:v>
                </c:pt>
                <c:pt idx="24">
                  <c:v>144.5833</c:v>
                </c:pt>
                <c:pt idx="25">
                  <c:v>151.5833</c:v>
                </c:pt>
                <c:pt idx="26">
                  <c:v>158.5833</c:v>
                </c:pt>
                <c:pt idx="27">
                  <c:v>165.5833</c:v>
                </c:pt>
                <c:pt idx="28">
                  <c:v>172.5833</c:v>
                </c:pt>
                <c:pt idx="29">
                  <c:v>179.5833</c:v>
                </c:pt>
                <c:pt idx="30">
                  <c:v>186.5833</c:v>
                </c:pt>
                <c:pt idx="31">
                  <c:v>193.5833</c:v>
                </c:pt>
                <c:pt idx="32">
                  <c:v>200.5833</c:v>
                </c:pt>
                <c:pt idx="33">
                  <c:v>207.5833</c:v>
                </c:pt>
                <c:pt idx="34">
                  <c:v>214.5833</c:v>
                </c:pt>
                <c:pt idx="35">
                  <c:v>221.5833</c:v>
                </c:pt>
                <c:pt idx="36">
                  <c:v>228.5833</c:v>
                </c:pt>
                <c:pt idx="37">
                  <c:v>235.5833</c:v>
                </c:pt>
                <c:pt idx="38">
                  <c:v>242.5833</c:v>
                </c:pt>
                <c:pt idx="39">
                  <c:v>249.5833</c:v>
                </c:pt>
                <c:pt idx="40">
                  <c:v>256.5833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PolicyBurst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0.75</c:v>
                </c:pt>
                <c:pt idx="4">
                  <c:v>5.5</c:v>
                </c:pt>
                <c:pt idx="5">
                  <c:v>10.8333</c:v>
                </c:pt>
                <c:pt idx="6">
                  <c:v>16.1667</c:v>
                </c:pt>
                <c:pt idx="7">
                  <c:v>21.5</c:v>
                </c:pt>
                <c:pt idx="8">
                  <c:v>26.8333</c:v>
                </c:pt>
                <c:pt idx="9">
                  <c:v>32.1667</c:v>
                </c:pt>
                <c:pt idx="10">
                  <c:v>39.1667</c:v>
                </c:pt>
                <c:pt idx="11">
                  <c:v>46.1667</c:v>
                </c:pt>
                <c:pt idx="12">
                  <c:v>53.1667</c:v>
                </c:pt>
                <c:pt idx="13">
                  <c:v>60.1667</c:v>
                </c:pt>
                <c:pt idx="14">
                  <c:v>67.1667</c:v>
                </c:pt>
                <c:pt idx="15">
                  <c:v>74.1667</c:v>
                </c:pt>
                <c:pt idx="16">
                  <c:v>81.1667</c:v>
                </c:pt>
                <c:pt idx="17">
                  <c:v>88.1667</c:v>
                </c:pt>
                <c:pt idx="18">
                  <c:v>95.1667</c:v>
                </c:pt>
                <c:pt idx="19">
                  <c:v>102.1667</c:v>
                </c:pt>
                <c:pt idx="20">
                  <c:v>109.1667</c:v>
                </c:pt>
                <c:pt idx="21">
                  <c:v>109.1667</c:v>
                </c:pt>
                <c:pt idx="22">
                  <c:v>109.1667</c:v>
                </c:pt>
                <c:pt idx="23">
                  <c:v>109.1667</c:v>
                </c:pt>
                <c:pt idx="24">
                  <c:v>109.1667</c:v>
                </c:pt>
                <c:pt idx="25">
                  <c:v>109.1667</c:v>
                </c:pt>
                <c:pt idx="26">
                  <c:v>109.1667</c:v>
                </c:pt>
                <c:pt idx="27">
                  <c:v>109.1667</c:v>
                </c:pt>
                <c:pt idx="28">
                  <c:v>109.1667</c:v>
                </c:pt>
                <c:pt idx="29">
                  <c:v>109.1667</c:v>
                </c:pt>
                <c:pt idx="30">
                  <c:v>109.1667</c:v>
                </c:pt>
                <c:pt idx="31">
                  <c:v>109.1667</c:v>
                </c:pt>
                <c:pt idx="32">
                  <c:v>109.1667</c:v>
                </c:pt>
                <c:pt idx="33">
                  <c:v>109.1667</c:v>
                </c:pt>
                <c:pt idx="34">
                  <c:v>109.1667</c:v>
                </c:pt>
                <c:pt idx="35">
                  <c:v>109.1667</c:v>
                </c:pt>
                <c:pt idx="36">
                  <c:v>109.1667</c:v>
                </c:pt>
                <c:pt idx="37">
                  <c:v>109.1667</c:v>
                </c:pt>
                <c:pt idx="38">
                  <c:v>109.1667</c:v>
                </c:pt>
                <c:pt idx="39">
                  <c:v>109.1667</c:v>
                </c:pt>
                <c:pt idx="40">
                  <c:v>109.1667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Ceiling (₹120)</c:v>
                </c:pt>
              </c:strCache>
            </c:strRef>
          </c:tx>
          <c:spPr>
            <a:solidFill>
              <a:srgbClr val="D1495B"/>
            </a:solidFill>
            <a:ln w="31750" cap="flat">
              <a:solidFill>
                <a:srgbClr val="D1495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D1495B"/>
              </a:solidFill>
              <a:ln w="9525" cap="flat">
                <a:solidFill>
                  <a:srgbClr val="D1495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Sheet1!$A$2:$A$42</c:f>
              <c:multiLvlStrCache>
                <c:ptCount val="41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  <c:pt idx="7">
                    <c:v>7</c:v>
                  </c:pt>
                  <c:pt idx="8">
                    <c:v>8</c:v>
                  </c:pt>
                  <c:pt idx="9">
                    <c:v>9</c:v>
                  </c:pt>
                  <c:pt idx="10">
                    <c:v>10</c:v>
                  </c:pt>
                  <c:pt idx="11">
                    <c:v>11</c:v>
                  </c:pt>
                  <c:pt idx="12">
                    <c:v>12</c:v>
                  </c:pt>
                  <c:pt idx="13">
                    <c:v>13</c:v>
                  </c:pt>
                  <c:pt idx="14">
                    <c:v>14</c:v>
                  </c:pt>
                  <c:pt idx="15">
                    <c:v>15</c:v>
                  </c:pt>
                  <c:pt idx="16">
                    <c:v>16</c:v>
                  </c:pt>
                  <c:pt idx="17">
                    <c:v>17</c:v>
                  </c:pt>
                  <c:pt idx="18">
                    <c:v>18</c:v>
                  </c:pt>
                  <c:pt idx="19">
                    <c:v>19</c:v>
                  </c:pt>
                  <c:pt idx="20">
                    <c:v>20</c:v>
                  </c:pt>
                  <c:pt idx="21">
                    <c:v>21</c:v>
                  </c:pt>
                  <c:pt idx="22">
                    <c:v>22</c:v>
                  </c:pt>
                  <c:pt idx="23">
                    <c:v>23</c:v>
                  </c:pt>
                  <c:pt idx="24">
                    <c:v>24</c:v>
                  </c:pt>
                  <c:pt idx="25">
                    <c:v>25</c:v>
                  </c:pt>
                  <c:pt idx="26">
                    <c:v>26</c:v>
                  </c:pt>
                  <c:pt idx="27">
                    <c:v>27</c:v>
                  </c:pt>
                  <c:pt idx="28">
                    <c:v>28</c:v>
                  </c:pt>
                  <c:pt idx="29">
                    <c:v>29</c:v>
                  </c:pt>
                  <c:pt idx="30">
                    <c:v>30</c:v>
                  </c:pt>
                  <c:pt idx="31">
                    <c:v>31</c:v>
                  </c:pt>
                  <c:pt idx="32">
                    <c:v>32</c:v>
                  </c:pt>
                  <c:pt idx="33">
                    <c:v>33</c:v>
                  </c:pt>
                  <c:pt idx="34">
                    <c:v>34</c:v>
                  </c:pt>
                  <c:pt idx="35">
                    <c:v>35</c:v>
                  </c:pt>
                  <c:pt idx="36">
                    <c:v>36</c:v>
                  </c:pt>
                  <c:pt idx="37">
                    <c:v>37</c:v>
                  </c:pt>
                  <c:pt idx="38">
                    <c:v>38</c:v>
                  </c:pt>
                  <c:pt idx="39">
                    <c:v>39</c:v>
                  </c:pt>
                  <c:pt idx="40">
                    <c:v>40</c:v>
                  </c:pt>
                </c:lvl>
              </c:multiLvlStrCache>
            </c:multiLvl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120</c:v>
                </c:pt>
                <c:pt idx="1">
                  <c:v>120</c:v>
                </c:pt>
                <c:pt idx="2">
                  <c:v>120</c:v>
                </c:pt>
                <c:pt idx="3">
                  <c:v>120</c:v>
                </c:pt>
                <c:pt idx="4">
                  <c:v>120</c:v>
                </c:pt>
                <c:pt idx="5">
                  <c:v>120</c:v>
                </c:pt>
                <c:pt idx="6">
                  <c:v>120</c:v>
                </c:pt>
                <c:pt idx="7">
                  <c:v>120</c:v>
                </c:pt>
                <c:pt idx="8">
                  <c:v>120</c:v>
                </c:pt>
                <c:pt idx="9">
                  <c:v>120</c:v>
                </c:pt>
                <c:pt idx="10">
                  <c:v>120</c:v>
                </c:pt>
                <c:pt idx="11">
                  <c:v>120</c:v>
                </c:pt>
                <c:pt idx="12">
                  <c:v>120</c:v>
                </c:pt>
                <c:pt idx="13">
                  <c:v>120</c:v>
                </c:pt>
                <c:pt idx="14">
                  <c:v>120</c:v>
                </c:pt>
                <c:pt idx="15">
                  <c:v>120</c:v>
                </c:pt>
                <c:pt idx="16">
                  <c:v>120</c:v>
                </c:pt>
                <c:pt idx="17">
                  <c:v>120</c:v>
                </c:pt>
                <c:pt idx="18">
                  <c:v>120</c:v>
                </c:pt>
                <c:pt idx="19">
                  <c:v>120</c:v>
                </c:pt>
                <c:pt idx="20">
                  <c:v>120</c:v>
                </c:pt>
                <c:pt idx="21">
                  <c:v>120</c:v>
                </c:pt>
                <c:pt idx="22">
                  <c:v>120</c:v>
                </c:pt>
                <c:pt idx="23">
                  <c:v>120</c:v>
                </c:pt>
                <c:pt idx="24">
                  <c:v>120</c:v>
                </c:pt>
                <c:pt idx="25">
                  <c:v>120</c:v>
                </c:pt>
                <c:pt idx="26">
                  <c:v>120</c:v>
                </c:pt>
                <c:pt idx="27">
                  <c:v>120</c:v>
                </c:pt>
                <c:pt idx="28">
                  <c:v>120</c:v>
                </c:pt>
                <c:pt idx="29">
                  <c:v>120</c:v>
                </c:pt>
                <c:pt idx="30">
                  <c:v>120</c:v>
                </c:pt>
                <c:pt idx="31">
                  <c:v>120</c:v>
                </c:pt>
                <c:pt idx="32">
                  <c:v>120</c:v>
                </c:pt>
                <c:pt idx="33">
                  <c:v>120</c:v>
                </c:pt>
                <c:pt idx="34">
                  <c:v>120</c:v>
                </c:pt>
                <c:pt idx="35">
                  <c:v>120</c:v>
                </c:pt>
                <c:pt idx="36">
                  <c:v>120</c:v>
                </c:pt>
                <c:pt idx="37">
                  <c:v>120</c:v>
                </c:pt>
                <c:pt idx="38">
                  <c:v>120</c:v>
                </c:pt>
                <c:pt idx="39">
                  <c:v>120</c:v>
                </c:pt>
                <c:pt idx="40">
                  <c:v>120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Minutes into run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5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Attainment points per ₹100 (5 bursts, 3 reps)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Attainment per ₹100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5761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4C6A9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B1 Threshold-only</c:v>
                  </c:pt>
                  <c:pt idx="1">
                    <c:v>PolicyBurst (full)</c:v>
                  </c:pt>
                  <c:pt idx="2">
                    <c:v>PB − cost accumulator</c:v>
                  </c:pt>
                  <c:pt idx="3">
                    <c:v>PB − latency filter</c:v>
                  </c:pt>
                  <c:pt idx="4">
                    <c:v>PB − residency filter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33.4</c:v>
                </c:pt>
                <c:pt idx="1">
                  <c:v>60.3</c:v>
                </c:pt>
                <c:pt idx="2">
                  <c:v>35.3</c:v>
                </c:pt>
                <c:pt idx="3">
                  <c:v>55.2</c:v>
                </c:pt>
                <c:pt idx="4">
                  <c:v>59.2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Attainment penalty of residency (pp)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Penalty (pp)</c:v>
                </c:pt>
              </c:strCache>
            </c:strRef>
          </c:tx>
          <c:spPr>
            <a:solidFill>
              <a:srgbClr val="2A9D8F"/>
            </a:solidFill>
            <a:ln w="31750" cap="flat">
              <a:solidFill>
                <a:srgbClr val="2A9D8F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A9D8F"/>
              </a:solidFill>
              <a:ln w="9525" cap="flat">
                <a:solidFill>
                  <a:srgbClr val="2A9D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0%</c:v>
                  </c:pt>
                  <c:pt idx="1">
                    <c:v>10%</c:v>
                  </c:pt>
                  <c:pt idx="2">
                    <c:v>30%</c:v>
                  </c:pt>
                  <c:pt idx="3">
                    <c:v>50%</c:v>
                  </c:pt>
                  <c:pt idx="4">
                    <c:v>70%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0.1</c:v>
                </c:pt>
                <c:pt idx="2">
                  <c:v>-5.7</c:v>
                </c:pt>
                <c:pt idx="3">
                  <c:v>5.9</c:v>
                </c:pt>
                <c:pt idx="4">
                  <c:v>31.9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Share of restricted traffic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3A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2263A"/>
                </a:solidFill>
                <a:latin typeface="+mn-lt"/>
              </a:rPr>
              <a:t>Attainment of restricted requests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residency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10%</c:v>
                  </c:pt>
                  <c:pt idx="1">
                    <c:v>30%</c:v>
                  </c:pt>
                  <c:pt idx="2">
                    <c:v>50%</c:v>
                  </c:pt>
                  <c:pt idx="3">
                    <c:v>70%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81</c:v>
                </c:pt>
                <c:pt idx="2">
                  <c:v>64</c:v>
                </c:pt>
                <c:pt idx="3">
                  <c:v>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residency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10%</c:v>
                  </c:pt>
                  <c:pt idx="1">
                    <c:v>30%</c:v>
                  </c:pt>
                  <c:pt idx="2">
                    <c:v>50%</c:v>
                  </c:pt>
                  <c:pt idx="3">
                    <c:v>70%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76</c:v>
                </c:pt>
                <c:pt idx="2">
                  <c:v>75</c:v>
                </c:pt>
                <c:pt idx="3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675"/>
                    </a:solidFill>
                    <a:latin typeface="+mn-lt"/>
                  </a:defRPr>
                </a:pPr>
                <a:r>
                  <a:rPr sz="1100" b="0" i="0" u="none" strike="noStrike">
                    <a:solidFill>
                      <a:srgbClr val="5B6675"/>
                    </a:solidFill>
                    <a:latin typeface="+mn-lt"/>
                  </a:rPr>
                  <a:t>Share of restricted traffic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E3E8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67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PolicyBurst loses at 2.5x: the static latency filter skips pub-us. At heavy overload, local queueing delay exceeds the 300 ms pub-us would add, so slow capacity would still help. Fix: a queue-aware latency filter.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P11 · Policy-Driven Cloud Bursting · Final Review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PolicyBurst: Constraint-First Cloud Bursting Under Cost, Latency and Data Residency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  ·  Project P11  ·  Cloud Computing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Ramanuj Agarwal  ·  23BCE1861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Indra Priyadarshini S.   |   github.com/AviatorRoyal/cloud-burst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PVT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463040" y="1051560"/>
            <a:ext cx="822960" cy="914"/>
          </a:xfrm>
          <a:prstGeom prst="line">
            <a:avLst/>
          </a:prstGeom>
          <a:noFill/>
          <a:ln w="22225">
            <a:solidFill>
              <a:srgbClr val="CADCE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377440" y="73152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731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PUB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in one slide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A bursting controller that never breaks the budget or the residency rule, and is cheaper per unit of service when it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434340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A9D8F"/>
                </a:solidFill>
              </a:rPr>
              <a:t>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residency violations and ceiling breaches by PolicyBurst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846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227 simulated + 9 testbed runs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2560320" cy="434340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188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E9A23B"/>
                </a:solidFill>
              </a:rPr>
              <a:t>+80%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30632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SLO attainment per ₹ vs threshold-only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4846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repeated bursts, ceiling binding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1737360"/>
            <a:ext cx="2560320" cy="434340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4652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D1495B"/>
                </a:solidFill>
              </a:rPr>
              <a:t>2.1×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0632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the ceiling spent by threshold-only bursting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4846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same workload, no cost check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052560" y="1737360"/>
            <a:ext cx="2560320" cy="4343400"/>
          </a:xfrm>
          <a:prstGeom prst="roundRect">
            <a:avLst>
              <a:gd name="adj" fmla="val 2857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281160" y="19202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4C6A92"/>
                </a:solidFill>
              </a:rPr>
              <a:t>≈ 0 pp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281160" y="306324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attainment cost of residency at 30% restricted traffic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484632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</a:rPr>
              <a:t>rises to 32 pp at 70%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Threshold controllers keep pods running but ignore the rules that govern an institution's bursting decision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4754880" cy="1554480"/>
          </a:xfrm>
          <a:prstGeom prst="roundRect">
            <a:avLst>
              <a:gd name="adj" fmla="val 4706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74520"/>
            <a:ext cx="4389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typical production rule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cpu_util &gt; 0.75 or pending_pods &gt; 0: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add_cheapest_public_node()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allow_any_pod_anywhere()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52044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Operationally correct — the pods run. Administratively or legally unacceptable — the bill, the SLO and the data's jurisdiction are not checked.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983480"/>
            <a:ext cx="4754880" cy="1143000"/>
          </a:xfrm>
          <a:prstGeom prst="roundRect">
            <a:avLst>
              <a:gd name="adj" fmla="val 6400"/>
            </a:avLst>
          </a:prstGeom>
          <a:solidFill>
            <a:srgbClr val="F8DDE1"/>
          </a:solidFill>
          <a:ln w="9525">
            <a:solidFill>
              <a:srgbClr val="F8DD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5074920"/>
            <a:ext cx="4389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1495B"/>
                </a:solidFill>
              </a:rPr>
              <a:t>Post-hoc filters are too late: the capacity is already bought when the rule rejects it.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760720" y="1737360"/>
            <a:ext cx="5852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943600" y="2011680"/>
            <a:ext cx="731520" cy="7315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0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₹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Monthly spending ceiling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267712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Public spend is paid from an approved budget — a hard cap, not a preference.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60720" y="3218688"/>
            <a:ext cx="5852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3493008"/>
            <a:ext cx="731520" cy="731520"/>
          </a:xfrm>
          <a:prstGeom prst="ellipse">
            <a:avLst/>
          </a:prstGeom>
          <a:solidFill>
            <a:srgbClr val="4C6A92"/>
          </a:solidFill>
          <a:ln w="12700">
            <a:solidFill>
              <a:srgbClr val="4C6A9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0" y="349300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ms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3558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Latency objective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37490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Distant regions add more delay than the 300 ms SLO allows.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60720" y="4700016"/>
            <a:ext cx="585216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4974336"/>
            <a:ext cx="731520" cy="73152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0" y="49743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483717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Data residency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858000" y="5230368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DPDP Act 2023 §16 and sector rules (e.g. RBI 2018) keep some data in India.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and how each was met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All four objectives are evidenced in code, on the testbed and in simulation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206240"/>
                <a:gridCol w="5120640"/>
                <a:gridCol w="109728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Controller with cost, latency and residency as explicit inputs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Feasible set per workload, then projected-spend gate (policyburst/decision.py)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on private Kubernetes with a public node pool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5-node k3s cluster, BurstPolicy CRD, tainted public pool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 attainment per unit spend under varying burst intensity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1.5–4× bursts, 60–300 s, testbed + simulation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Capacity and cost consequences of residency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Sweep of restricted share 0–70%, with and without residency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DDF1EE"/>
          </a:solidFill>
          <a:ln w="9525">
            <a:solidFill>
              <a:srgbClr val="DDF1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53949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Baselines (from the problem statement): B0 no bursting · B1 threshold-only bursting without constraints.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gap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15 papers from 2021 onwards; none enforces all three constraints in a live private + public Kubernetes controller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011680"/>
                <a:gridCol w="2011680"/>
                <a:gridCol w="2011680"/>
                <a:gridCol w="20116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cost ceiling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Per-destination latency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residency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private + public K8s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Starburst (ATC'24)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Can't Be Late (NSDI'24)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SkyPilot (NSDI'23)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Liqo (TCC'23)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Abdi et al. (FGCS'24)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 et al. (FGCS'22)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edge autoscalers ('21–'22)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FD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PolicyBurst (this work)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A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447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“Partial” = soft objective, manual setting, or simulation only. Full gap table and references in the paper.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Standard Kubernetes primitives only: taints, cordon, node affinity, HPA — runs on any conformant cluster</a:t>
            </a:r>
            <a:endParaRPr lang="en-US" sz="1600" dirty="0"/>
          </a:p>
        </p:txBody>
      </p:sp>
      <p:pic>
        <p:nvPicPr>
          <p:cNvPr id="4" name="Image 0" descr="C:\Users\raman\Projects\P11-cloud-bursting\paper\figures\fig1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6949440" cy="40416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863840" y="1828800"/>
            <a:ext cx="37490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Policy is a BurstPolicy custom resource; kubectl apply changes it live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Public nodes are tainted and stay cordoned until bought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Each Deployment is pinned to its permissible destinations by node affinity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HPA decides how many replicas; PolicyBurst decides where they may go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Constraint-first decision, every 15 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Residency and latency define the feasible set before the controller decides to burst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74520"/>
            <a:ext cx="594360" cy="594360"/>
          </a:xfrm>
          <a:prstGeom prst="ellipse">
            <a:avLst/>
          </a:prstGeom>
          <a:solidFill>
            <a:srgbClr val="5B6675"/>
          </a:solidFill>
          <a:ln w="12700">
            <a:solidFill>
              <a:srgbClr val="5B667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Observe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Pending pods, private CPU, active nodes, RTT probes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78608" y="2788920"/>
            <a:ext cx="219456" cy="914"/>
          </a:xfrm>
          <a:prstGeom prst="line">
            <a:avLst/>
          </a:prstGeom>
          <a:noFill/>
          <a:ln w="22225">
            <a:solidFill>
              <a:srgbClr val="12263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816352" y="17373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999232" y="1874520"/>
            <a:ext cx="594360" cy="59436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999232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999232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Residency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2999232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data class → permitted regions; unknown = restricted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2788920"/>
            <a:ext cx="219456" cy="914"/>
          </a:xfrm>
          <a:prstGeom prst="line">
            <a:avLst/>
          </a:prstGeom>
          <a:noFill/>
          <a:ln w="22225">
            <a:solidFill>
              <a:srgbClr val="12263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84064" y="17373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66944" y="1874520"/>
            <a:ext cx="594360" cy="594360"/>
          </a:xfrm>
          <a:prstGeom prst="ellipse">
            <a:avLst/>
          </a:prstGeom>
          <a:solidFill>
            <a:srgbClr val="4C6A92"/>
          </a:solidFill>
          <a:ln w="12700">
            <a:solidFill>
              <a:srgbClr val="4C6A9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66944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266944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Latency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266944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2 × RTT + service ≤ 300 ms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114032" y="2788920"/>
            <a:ext cx="219456" cy="914"/>
          </a:xfrm>
          <a:prstGeom prst="line">
            <a:avLst/>
          </a:prstGeom>
          <a:noFill/>
          <a:ln w="22225">
            <a:solidFill>
              <a:srgbClr val="12263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51776" y="17373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34656" y="1874520"/>
            <a:ext cx="594360" cy="59436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34656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34656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Budget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534656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spent + next lease ≤ ceiling − reserve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381744" y="2788920"/>
            <a:ext cx="219456" cy="914"/>
          </a:xfrm>
          <a:prstGeom prst="line">
            <a:avLst/>
          </a:prstGeom>
          <a:noFill/>
          <a:ln w="22225">
            <a:solidFill>
              <a:srgbClr val="12263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619488" y="17373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02368" y="1874520"/>
            <a:ext cx="594360" cy="59436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802368" y="18745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802368" y="25603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Act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802368" y="2971800"/>
            <a:ext cx="1691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</a:rPr>
              <a:t>cheapest feasible node, or reject with reason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402336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4160520"/>
            <a:ext cx="10698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S(t) + (Σ p(active) + p(d)) · min(lease, T − t)  ≤  B − ρ      # buy d only if the whole lease fits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S(t) + Σ p(active) · Δ  &gt;  B − ρ   ⇒   release all public       # halt before the next interval crosses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 priciest node only if its pods fit on private capacity # safe scale-in (fixes thrash)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new public node while a Deployment is mid-rollout; evict misplaced pods  # rollout guard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4C6A92"/>
                </a:solidFill>
              </a:rPr>
              <a:t>The threshold baseline is the same loop with all three constraints switched off — so any difference comes from the decision logic, not the plumbing.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github.com/AviatorRoyal/cloud-burst · Python on the official Kubernetes client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828800"/>
            <a:ext cx="51206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cloud-burst/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policyburst/   policy · feasibility · cost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decision · signals · actuator · main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baselines/threshold.py   # B1, constraints off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deploy/  k3s/ k3d/ crd/ policy/ app/ controller/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load/locustfile.py        # burst + ramp shapes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experiments/run_matrix.py # testbed runs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sim/                      # simulator, same code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analysis/                 # metrics, figures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paper/   evidence/   results/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                    # unit tests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Commit history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2103120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2240280"/>
            <a:ext cx="49377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270e7e3 2026-10-26 Add testbed, simulator, guards and full evaluation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b17414a 2026-10-26 Point decks at the real GitHub repo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0274ee2 2026-10-26 Initial PolicyBurst project: controller, baselines, testbed, experiments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54864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DDF1EE"/>
          </a:solidFill>
          <a:ln w="9525">
            <a:solidFill>
              <a:srgbClr val="DDF1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Sample app: records (restricted) · lms (internal) · static (public); 15 ms CPU per request; HPA 60% CPU, 1–30 replicas.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Testbed: a real 5-node k3s cluster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Captured on DEATHSTAR at 2026-10-25 23:55:01 UTC · evidence/20261025-235501/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10698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kubectl get nodes -L p11.burst/destination,p11.burst/region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              STATUS                     ROLES           AGE     VERSION        DESTINATION   REGION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k3d-p11-agent-0    Ready                      &lt;none&gt;          3h51m   v1.35.5+k3s1   private      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k3d-p11-agent-1    Ready,SchedulingDisabled   &lt;none&gt;          3h51m   v1.35.5+k3s1   pub-in       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k3d-p11-agent-2    Ready,SchedulingDisabled   &lt;none&gt;          3h51m   v1.35.5+k3s1   pub-sg        non-IN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k3d-p11-agent-3    Ready,SchedulingDisabled   &lt;none&gt;          3h51m   v1.35.5+k3s1   pub-us        non-IN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k3d-p11-server-0   Ready                      control-plane   3h51m   v1.35.5+k3s1   private       IN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5669280" cy="1828800"/>
          </a:xfrm>
          <a:prstGeom prst="roundRect">
            <a:avLst>
              <a:gd name="adj" fmla="val 4000"/>
            </a:avLst>
          </a:prstGeom>
          <a:solidFill>
            <a:srgbClr val="0F1B2A"/>
          </a:solidFill>
          <a:ln w="9525">
            <a:solidFill>
              <a:srgbClr val="0F1B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794760"/>
            <a:ext cx="5303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ping -c 5 &lt;node-ip&gt;   (avg RTT)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k3d-p11-agent-0    172.18.0.5   0.049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k3d-p11-agent-1    172.18.0.3   0.051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k3d-p11-agent-2    172.18.0.6   37.861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k3d-p11-agent-3    172.18.0.4   119.493 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k3d-p11-server-0   172.18.0.2   0.060 ms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365760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k3s v1.35.5 via k3d, 2 vCPU per node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Private: server-0, agent-0 (region IN)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pub-in IN · pub-sg +40 ms · pub-us +120 ms (netem)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Public nodes tainted, cordoned until bought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Locust load from the host, 4 processes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61447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Same topology can be built from real VMs over Tailscale with deploy/k3s/ (planned upgrade).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method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Two layers: measure on the cluster, explore the parameter space in a simulator that runs the same decision code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548640" cy="54864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874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Testbed (measured)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5603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B0, B1, PolicyBurst · 2× burst, 180 s · 3 repetitions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Per-request logs from Locust, including the serving node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Capacity calibrated: largest load with ≥ 95% SLO attainment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3949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4C6A92"/>
          </a:solidFill>
          <a:ln w="12700">
            <a:solidFill>
              <a:srgbClr val="4C6A9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18745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63A"/>
                </a:solidFill>
              </a:rPr>
              <a:t>Simulation (same Decider + CostMeter)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560320"/>
            <a:ext cx="4937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227 runs: 5 burst sizes × 3 durations, ablation, residency sweep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Models HPA, scheduler, pod start-up, CPU limits, closed-loop users, queues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Checked against the testbed at the shared 2× point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868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 attainment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of all requests that succeed within 300 ms (failures count as misses)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Attainment per ₹100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attainment points ÷ shadow-priced spend ×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Residency violations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restricted requests served by a non-IN node (from client logs)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Residency penalty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attainment without residency − attainment with residency (pp)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Testbed results (measured)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2× private capacity for 180 s, 3 repetitions per configuration, mean ± 95% CI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94183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828800"/>
                <a:gridCol w="1280160"/>
                <a:gridCol w="1280160"/>
                <a:gridCol w="128016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Attainment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p95 (ms)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 (₹)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₹100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B0 No bursting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66.7 ± 14.5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1782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 Threshold-only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 ± 3.5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7163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PolicyBurst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 ± 14.0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36576" marB="36576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48640" y="3566160"/>
          <a:ext cx="11064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simulation agree with the testbed?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Same configurations at the one point both cover; the simulation is then used to explore the rest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008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223760" y="1645920"/>
            <a:ext cx="43891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Largest gap 32 pp: 4-core testbed private pool vs 7-core model, real start-up timing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Agree: bursting beats no bursting on both platforms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PolicyBurst vs threshold: −5 pp on the testbed, +9 pp in simulation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Testbed caught what the model cannot: restricted pods leaked abroad during affinity rollouts (62 and 126 requests in early runs) — fixed with rollout + placement guards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B2430"/>
                </a:solidFill>
              </a:rPr>
              <a:t>Why: emulated pub-us is ≈120 ms RTT on the testbed (fits the SLO, so the latency filter removes nothing) but 148 ms in the model (misses it)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O3: attainment per ₹ across burst sizes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PolicyBurst +41% at 1.5×, +23% at 2×, but −13% at 2.5× (simulation, 180 s bursts)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60020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ceiling holds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Five 2× bursts in one compressed billing month: threshold-only spends ₹257, PolicyBurst ₹109 (ceiling ₹120)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4980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321040" y="1737360"/>
            <a:ext cx="32918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Threshold-only: 2.1× the ceiling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PolicyBurst stops when the next lease would cross ceiling − reserve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Later bursts: private capacity only, rejections logged with reason “budget”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430"/>
                </a:solidFill>
              </a:rPr>
              <a:t>Ceiling breached: 100% of B1 runs, 0% of PolicyBurst runs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Ablation: where the gain comes from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With the ceiling binding, PolicyBurst gets +80% attainment per ₹; the cost accumulator is the main source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58368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9164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589520" y="1801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B5761A"/>
                </a:solidFill>
              </a:rPr>
              <a:t>− cost accumulator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2194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spend ₹251, ceiling breached every run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06640" y="315468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58952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C6A92"/>
                </a:solidFill>
              </a:rPr>
              <a:t>− latency filter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589520" y="36576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buys slow pub-us: attainment 60.1% vs 65.9%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06640" y="4617720"/>
            <a:ext cx="4206240" cy="1280160"/>
          </a:xfrm>
          <a:prstGeom prst="roundRect">
            <a:avLst>
              <a:gd name="adj" fmla="val 5714"/>
            </a:avLst>
          </a:prstGeom>
          <a:solidFill>
            <a:srgbClr val="EEF3F6"/>
          </a:solidFill>
          <a:ln w="9525">
            <a:solidFill>
              <a:srgbClr val="EEF3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589520" y="47274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</a:rPr>
              <a:t>− residency filter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7589520" y="51206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57,186 restricted requests abroad per run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O4: what residency costs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About zero up to 30% restricted traffic; 6 pp at 50% and 32 pp at 70%, once pub-in is saturated</a:t>
            </a:r>
            <a:endParaRPr lang="en-US" sz="1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4864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309360" y="1600200"/>
          <a:ext cx="530352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144768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5B6675"/>
                </a:solidFill>
              </a:rPr>
              <a:t>Rule of thumb: compliance is cheap while in-country capacity (private + pub-in) can absorb the restricted share of peak demand.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Hypotheses: final verdict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Reported against the hypotheses as stated, including where the data disagrees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920240"/>
            <a:ext cx="731520" cy="73152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920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91640" y="205740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69164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Partly supported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023360" y="1755648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≥ 25% per ₹ holds at 1.5× (+41%) and with a binding ceiling (+80%); +23% at 2×; fails at 2.5× (−13%) where the static latency filter forgoes pub-us.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0896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383280"/>
            <a:ext cx="731520" cy="73152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3383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691640" y="352044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691640" y="35204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Supported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023360" y="3218688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PolicyBurst: 0 residency violations and no ceiling breach in 227 simulated and 9 testbed runs. Threshold-only served 7163 restricted requests abroad per testbed run and breached the ceiling in 100% of repeated-burst runs.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4846320"/>
            <a:ext cx="731520" cy="731520"/>
          </a:xfrm>
          <a:prstGeom prst="ellipse">
            <a:avLst/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846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691640" y="4983480"/>
            <a:ext cx="2103120" cy="457200"/>
          </a:xfrm>
          <a:prstGeom prst="roundRect">
            <a:avLst>
              <a:gd name="adj" fmla="val 16000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691640" y="4983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Supported at 30%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23360" y="4681728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Penalty at 30% restricted: -5.7 pp (bound 10 pp). Not true beyond: 5.9 pp at 50%, 31.9 pp at 70%.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Threats to validity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What this setup cannot prove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92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Simulation 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514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Fluid queues and M/M/1-style service; checked against the testbed at one burst size.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691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187452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056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1892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One host, emulated WAN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480560" y="2514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All nodes share a machine; foreign regions are netem delay, not real links.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69164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0" y="187452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0" y="1874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69680" y="1892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Cost is modelled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0" y="251460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Free tier bills ₹0: shadow prices, month compressed into 1 h, rates ×100.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133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Synthetic load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7548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Square-wave bursts; real demand ramps, overlaps and follows daily cycles.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297680" y="3931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11480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8056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120640" y="4133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Residency ≠ legal compliance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480560" y="47548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Pod placement only; logs, backups and control plane may still cross borders.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46720" y="3931920"/>
            <a:ext cx="3474720" cy="2011680"/>
          </a:xfrm>
          <a:prstGeom prst="roundRect">
            <a:avLst>
              <a:gd name="adj" fmla="val 3636"/>
            </a:avLst>
          </a:prstGeom>
          <a:solidFill>
            <a:srgbClr val="EEF3F6"/>
          </a:solidFill>
          <a:ln w="9525">
            <a:solidFill>
              <a:srgbClr val="C9D3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4114800"/>
            <a:ext cx="502920" cy="502920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2960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!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869680" y="413308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Small scale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0" y="4754880"/>
            <a:ext cx="3108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5 nodes, 3 services, 3 repetitions; wide CIs at 2–2.5×.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and future work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4C6A92"/>
                </a:solidFill>
              </a:rPr>
              <a:t>Making constraints inputs, not filters, lets a bursting controller honour them at little cost in service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Contributions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53949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Constraint-first bursting: feasible set per workload, projected-spend gate, safe scale-in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Open-source controller with a BurstPolicy CRD, baselines in the same code path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Evaluation on a real k3s cluster and in a simulator running the same decision code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</a:rPr>
              <a:t>A measured cost of residency compliance and a rule of thumb for institutions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309360" y="1691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3A"/>
                </a:solidFill>
              </a:rPr>
              <a:t>Next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309360" y="214884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09360" y="2148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2103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Queue-aware latency filter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7132320" y="249631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admit a slow region when local queueing is worse — fixes 2.5×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0" y="3429000"/>
            <a:ext cx="640080" cy="64008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Real public node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377647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free-tier VM in an Indian region over Tailscale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4709160"/>
            <a:ext cx="640080" cy="64008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4709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4663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</a:rPr>
              <a:t>Beyond placement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0" y="505663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residency for logs, backups and storage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22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references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[1] Luo et al., Starburst: A cost-aware scheduler for hybrid cloud, USENIX ATC 2024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[2] Yang et al., SkyPilot: An intercloud broker for sky computing, NSDI 2023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[3] Wu et al., Can't Be Late: Optimizing spot instance savings under deadlines, NSDI 2024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[4] Iorio et al., Computing without borders: The way towards liquid computing, IEEE TCC 2023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[5] Abdi, Ashjaei &amp; Mubeen, Deadline-constrained security-aware workflow scheduling in hybrid cloud, FGCS 2024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[6] Xiao, Zhou, Yang &amp; He, Privacy-preserving workflow scheduling in geo-distributed data centers, FGCS 2022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[7] Stoica &amp; Shenker, From cloud computing to sky computing, HotOS 2021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[8] Wiesner et al., Let's wait awhile, Middleware 2021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[9] Ju, Singh &amp; Toor, Proactive autoscaling for edge computing systems with Kubernetes, UCC 2021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[10] Sukprasert et al., Carbon-aware temporal and spatial workload shifting, EuroSys 2024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[11] Digital Personal Data Protection Act 2023; RBI circular on storage of payment system data, 2018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B2430"/>
                </a:solidFill>
              </a:rPr>
              <a:t>[12] Kubernetes documentation (HPA, taints, node affinity); k3s; k3d; Locust; NetEm (Hemminger 2005)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5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737360"/>
            <a:ext cx="10698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931920"/>
            <a:ext cx="10698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Residency, latency and budget decide where work may go — before the controller decides where it should go.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11 Cloud Bursting">
  <a:themeElements>
    <a:clrScheme name="P11 Cloud Bursting">
      <a:dk1>
        <a:srgbClr val="1B2430"/>
      </a:dk1>
      <a:lt1>
        <a:srgbClr val="FFFFFF"/>
      </a:lt1>
      <a:dk2>
        <a:srgbClr val="12263A"/>
      </a:dk2>
      <a:lt2>
        <a:srgbClr val="EEF3F6"/>
      </a:lt2>
      <a:accent1>
        <a:srgbClr val="2A9D8F"/>
      </a:accent1>
      <a:accent2>
        <a:srgbClr val="E9A23B"/>
      </a:accent2>
      <a:accent3>
        <a:srgbClr val="D1495B"/>
      </a:accent3>
      <a:accent4>
        <a:srgbClr val="4C6A92"/>
      </a:accent4>
      <a:accent5>
        <a:srgbClr val="8AB17D"/>
      </a:accent5>
      <a:accent6>
        <a:srgbClr val="6C757D"/>
      </a:accent6>
      <a:hlink>
        <a:srgbClr val="2A9D8F"/>
      </a:hlink>
      <a:folHlink>
        <a:srgbClr val="4C6A92"/>
      </a:folHlink>
    </a:clrScheme>
    <a:fontScheme name="P11 Cloud Bursting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P11 Final Review — PolicyBurst</dc:title>
  <dc:subject>PptxGenJS Presentation</dc:subject>
  <dc:creator>Team P11</dc:creator>
  <cp:lastModifiedBy>Team P11</cp:lastModifiedBy>
  <cp:revision>1</cp:revision>
  <dcterms:created xsi:type="dcterms:W3CDTF">2026-10-25T23:56:03Z</dcterms:created>
  <dcterms:modified xsi:type="dcterms:W3CDTF">2026-10-25T23:56:03Z</dcterms:modified>
</cp:coreProperties>
</file>